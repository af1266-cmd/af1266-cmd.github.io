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 id="2147483699"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embeddedFontLst>
    <p:embeddedFont>
      <p:font typeface="Urbanist" panose="020B0604020202020204" charset="0"/>
      <p:regular r:id="rId23"/>
      <p:bold r:id="rId24"/>
      <p:italic r:id="rId25"/>
      <p:boldItalic r:id="rId26"/>
    </p:embeddedFont>
    <p:embeddedFont>
      <p:font typeface="Urbanist Medium" panose="020B0604020202020204" charset="0"/>
      <p:regular r:id="rId27"/>
      <p:bold r:id="rId28"/>
      <p:italic r:id="rId29"/>
      <p:boldItalic r:id="rId30"/>
    </p:embeddedFont>
    <p:embeddedFont>
      <p:font typeface="Urbanist SemiBold"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11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font" Target="fonts/font1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9.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ad5b1e4b83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ad5b1e4b8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ad5b1e4b83_2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3ad5b1e4b83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ad5b1e4b83_2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ad5b1e4b83_2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ad8ea9b26b_1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ad8ea9b26b_1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ad5b1e4b83_2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ad5b1e4b83_2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ad85250000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ad85250000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ad85250000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3ad8525000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d5b1e4b83_2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3ad5b1e4b83_2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ad85250000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ad85250000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d8ea9b26b_1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ad8ea9b26b_1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ad5b1e4b83_2_2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3ad5b1e4b83_2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ad8ea9b26b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3ad8ea9b26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3ad8ea9b26b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3ad8ea9b26b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ad5b1e4b83_2_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3ad5b1e4b83_2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3ad8ea9b26b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3ad8ea9b26b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ad5b1e4b83_2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3ad5b1e4b83_2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3ad8ea9b26b_1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3ad8ea9b26b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3ad8ea9b26b_1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3ad8ea9b26b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3ad5b1e4b83_2_9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5" name="Google Shape;705;g3ad5b1e4b83_2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ALT 1">
  <p:cSld name="BLANK_4">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l="3133" t="16785" r="7834" b="8145"/>
          <a:stretch/>
        </p:blipFill>
        <p:spPr>
          <a:xfrm rot="10800000" flipH="1">
            <a:off x="0" y="-3474"/>
            <a:ext cx="9161550" cy="5154499"/>
          </a:xfrm>
          <a:prstGeom prst="rect">
            <a:avLst/>
          </a:prstGeom>
          <a:noFill/>
          <a:ln>
            <a:noFill/>
          </a:ln>
        </p:spPr>
      </p:pic>
      <p:sp>
        <p:nvSpPr>
          <p:cNvPr id="56" name="Google Shape;56;p14"/>
          <p:cNvSpPr/>
          <p:nvPr/>
        </p:nvSpPr>
        <p:spPr>
          <a:xfrm rot="10800000" flipH="1">
            <a:off x="0" y="4676700"/>
            <a:ext cx="9149700" cy="466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 name="Google Shape;57;p14"/>
          <p:cNvSpPr txBox="1">
            <a:spLocks noGrp="1"/>
          </p:cNvSpPr>
          <p:nvPr>
            <p:ph type="subTitle" idx="1"/>
          </p:nvPr>
        </p:nvSpPr>
        <p:spPr>
          <a:xfrm>
            <a:off x="228600" y="1738950"/>
            <a:ext cx="4402800" cy="2520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58" name="Google Shape;58;p14"/>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9" name="Google Shape;59;p14"/>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0" name="Google Shape;60;p14"/>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1" name="Google Shape;61;p1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3" name="Google Shape;63;p14"/>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64" name="Google Shape;64;p1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65" name="Google Shape;65;p14"/>
          <p:cNvSpPr txBox="1">
            <a:spLocks noGrp="1"/>
          </p:cNvSpPr>
          <p:nvPr>
            <p:ph type="subTitle" idx="5"/>
          </p:nvPr>
        </p:nvSpPr>
        <p:spPr>
          <a:xfrm>
            <a:off x="2970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6" name="Google Shape;66;p14"/>
          <p:cNvSpPr txBox="1">
            <a:spLocks noGrp="1"/>
          </p:cNvSpPr>
          <p:nvPr>
            <p:ph type="subTitle" idx="6"/>
          </p:nvPr>
        </p:nvSpPr>
        <p:spPr>
          <a:xfrm>
            <a:off x="17863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7" name="Google Shape;67;p14"/>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
        <p:nvSpPr>
          <p:cNvPr id="68" name="Google Shape;68;p14"/>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ALT 1">
  <p:cSld name="BLANK_1_1_2">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228600" y="395043"/>
            <a:ext cx="6480300" cy="587700"/>
          </a:xfrm>
          <a:prstGeom prst="rect">
            <a:avLst/>
          </a:prstGeom>
        </p:spPr>
        <p:txBody>
          <a:bodyPr spcFirstLastPara="1" wrap="square" lIns="0" tIns="0"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71" name="Google Shape;71;p15"/>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2" name="Google Shape;72;p15"/>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3" name="Google Shape;73;p15"/>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4" name="Google Shape;74;p15"/>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5" name="Google Shape;75;p1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values">
  <p:cSld name="BLANK_1_1_1_1">
    <p:spTree>
      <p:nvGrpSpPr>
        <p:cNvPr id="1" name="Shape 78"/>
        <p:cNvGrpSpPr/>
        <p:nvPr/>
      </p:nvGrpSpPr>
      <p:grpSpPr>
        <a:xfrm>
          <a:off x="0" y="0"/>
          <a:ext cx="0" cy="0"/>
          <a:chOff x="0" y="0"/>
          <a:chExt cx="0" cy="0"/>
        </a:xfrm>
      </p:grpSpPr>
      <p:sp>
        <p:nvSpPr>
          <p:cNvPr id="79" name="Google Shape;79;p16"/>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80" name="Google Shape;80;p16"/>
          <p:cNvSpPr txBox="1">
            <a:spLocks noGrp="1"/>
          </p:cNvSpPr>
          <p:nvPr>
            <p:ph type="title"/>
          </p:nvPr>
        </p:nvSpPr>
        <p:spPr>
          <a:xfrm>
            <a:off x="228600" y="613525"/>
            <a:ext cx="7223400" cy="4221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a:endParaRPr/>
          </a:p>
        </p:txBody>
      </p:sp>
      <p:sp>
        <p:nvSpPr>
          <p:cNvPr id="81" name="Google Shape;81;p16"/>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2" name="Google Shape;82;p16"/>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3" name="Google Shape;83;p16"/>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4" name="Google Shape;84;p1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87" name="Google Shape;87;p16"/>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8" name="Google Shape;88;p16"/>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9" name="Google Shape;89;p16"/>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90" name="Google Shape;90;p16"/>
          <p:cNvSpPr txBox="1">
            <a:spLocks noGrp="1"/>
          </p:cNvSpPr>
          <p:nvPr>
            <p:ph type="body" idx="8"/>
          </p:nvPr>
        </p:nvSpPr>
        <p:spPr>
          <a:xfrm>
            <a:off x="288575"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1" name="Google Shape;91;p16"/>
          <p:cNvSpPr txBox="1">
            <a:spLocks noGrp="1"/>
          </p:cNvSpPr>
          <p:nvPr>
            <p:ph type="body" idx="9"/>
          </p:nvPr>
        </p:nvSpPr>
        <p:spPr>
          <a:xfrm>
            <a:off x="6121413"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2" name="Google Shape;92;p16"/>
          <p:cNvSpPr txBox="1">
            <a:spLocks noGrp="1"/>
          </p:cNvSpPr>
          <p:nvPr>
            <p:ph type="body" idx="13"/>
          </p:nvPr>
        </p:nvSpPr>
        <p:spPr>
          <a:xfrm>
            <a:off x="3192450"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and image ALT 2">
  <p:cSld name="CUSTOM_3">
    <p:spTree>
      <p:nvGrpSpPr>
        <p:cNvPr id="1" name="Shape 93"/>
        <p:cNvGrpSpPr/>
        <p:nvPr/>
      </p:nvGrpSpPr>
      <p:grpSpPr>
        <a:xfrm>
          <a:off x="0" y="0"/>
          <a:ext cx="0" cy="0"/>
          <a:chOff x="0" y="0"/>
          <a:chExt cx="0" cy="0"/>
        </a:xfrm>
      </p:grpSpPr>
      <p:sp>
        <p:nvSpPr>
          <p:cNvPr id="94" name="Google Shape;94;p17"/>
          <p:cNvSpPr>
            <a:spLocks noGrp="1"/>
          </p:cNvSpPr>
          <p:nvPr>
            <p:ph type="pic" idx="2"/>
          </p:nvPr>
        </p:nvSpPr>
        <p:spPr>
          <a:xfrm>
            <a:off x="246150" y="237650"/>
            <a:ext cx="4196400" cy="4438200"/>
          </a:xfrm>
          <a:prstGeom prst="rect">
            <a:avLst/>
          </a:prstGeom>
          <a:noFill/>
          <a:ln>
            <a:noFill/>
          </a:ln>
        </p:spPr>
      </p:sp>
      <p:sp>
        <p:nvSpPr>
          <p:cNvPr id="95" name="Google Shape;95;p17"/>
          <p:cNvSpPr txBox="1">
            <a:spLocks noGrp="1"/>
          </p:cNvSpPr>
          <p:nvPr>
            <p:ph type="title"/>
          </p:nvPr>
        </p:nvSpPr>
        <p:spPr>
          <a:xfrm>
            <a:off x="4591800" y="304700"/>
            <a:ext cx="3861900" cy="19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6" name="Google Shape;96;p17"/>
          <p:cNvSpPr txBox="1">
            <a:spLocks noGrp="1"/>
          </p:cNvSpPr>
          <p:nvPr>
            <p:ph type="title" idx="3"/>
          </p:nvPr>
        </p:nvSpPr>
        <p:spPr>
          <a:xfrm>
            <a:off x="4591800" y="738425"/>
            <a:ext cx="4290000" cy="2051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7" name="Google Shape;97;p17"/>
          <p:cNvSpPr txBox="1">
            <a:spLocks noGrp="1"/>
          </p:cNvSpPr>
          <p:nvPr>
            <p:ph type="body" idx="1"/>
          </p:nvPr>
        </p:nvSpPr>
        <p:spPr>
          <a:xfrm>
            <a:off x="4618950" y="2205375"/>
            <a:ext cx="4290000" cy="16296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8" name="Google Shape;98;p17"/>
          <p:cNvSpPr txBox="1">
            <a:spLocks noGrp="1"/>
          </p:cNvSpPr>
          <p:nvPr>
            <p:ph type="subTitle" idx="4"/>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99" name="Google Shape;99;p17"/>
          <p:cNvSpPr txBox="1">
            <a:spLocks noGrp="1"/>
          </p:cNvSpPr>
          <p:nvPr>
            <p:ph type="subTitle" idx="5"/>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0" name="Google Shape;100;p17"/>
          <p:cNvSpPr txBox="1">
            <a:spLocks noGrp="1"/>
          </p:cNvSpPr>
          <p:nvPr>
            <p:ph type="subTitle" idx="6"/>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1" name="Google Shape;101;p1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w="9525" cap="flat" cmpd="sng">
            <a:solidFill>
              <a:schemeClr val="lt2"/>
            </a:solidFill>
            <a:prstDash val="solid"/>
            <a:round/>
            <a:headEnd type="none" w="med" len="med"/>
            <a:tailEnd type="none" w="med" len="med"/>
          </a:ln>
        </p:spPr>
      </p:cxnSp>
      <p:cxnSp>
        <p:nvCxnSpPr>
          <p:cNvPr id="104" name="Google Shape;104;p17"/>
          <p:cNvCxnSpPr/>
          <p:nvPr/>
        </p:nvCxnSpPr>
        <p:spPr>
          <a:xfrm>
            <a:off x="4444600" y="570000"/>
            <a:ext cx="4470900" cy="0"/>
          </a:xfrm>
          <a:prstGeom prst="straightConnector1">
            <a:avLst/>
          </a:prstGeom>
          <a:noFill/>
          <a:ln w="9525" cap="flat" cmpd="sng">
            <a:solidFill>
              <a:schemeClr val="lt2"/>
            </a:solidFill>
            <a:prstDash val="solid"/>
            <a:round/>
            <a:headEnd type="none" w="med" len="med"/>
            <a:tailEnd type="none" w="med" len="med"/>
          </a:ln>
        </p:spPr>
      </p:cxnSp>
      <p:cxnSp>
        <p:nvCxnSpPr>
          <p:cNvPr id="105" name="Google Shape;105;p17"/>
          <p:cNvCxnSpPr/>
          <p:nvPr/>
        </p:nvCxnSpPr>
        <p:spPr>
          <a:xfrm>
            <a:off x="4442500" y="226100"/>
            <a:ext cx="0" cy="4457700"/>
          </a:xfrm>
          <a:prstGeom prst="straightConnector1">
            <a:avLst/>
          </a:prstGeom>
          <a:noFill/>
          <a:ln w="9525" cap="flat" cmpd="sng">
            <a:solidFill>
              <a:schemeClr val="lt2"/>
            </a:solidFill>
            <a:prstDash val="solid"/>
            <a:round/>
            <a:headEnd type="none" w="med" len="med"/>
            <a:tailEnd type="none" w="med" len="med"/>
          </a:ln>
        </p:spPr>
      </p:cxnSp>
      <p:cxnSp>
        <p:nvCxnSpPr>
          <p:cNvPr id="106" name="Google Shape;106;p1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ALT 1">
  <p:cSld name="BLANK_1_1_1_1_3">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228600" y="613525"/>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09" name="Google Shape;109;p18"/>
          <p:cNvSpPr>
            <a:spLocks noGrp="1"/>
          </p:cNvSpPr>
          <p:nvPr>
            <p:ph type="pic" idx="2"/>
          </p:nvPr>
        </p:nvSpPr>
        <p:spPr>
          <a:xfrm>
            <a:off x="4523050" y="7379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0" name="Google Shape;110;p18"/>
          <p:cNvSpPr>
            <a:spLocks noGrp="1"/>
          </p:cNvSpPr>
          <p:nvPr>
            <p:ph type="pic" idx="3"/>
          </p:nvPr>
        </p:nvSpPr>
        <p:spPr>
          <a:xfrm>
            <a:off x="6752100" y="7377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1" name="Google Shape;111;p18"/>
          <p:cNvSpPr>
            <a:spLocks noGrp="1"/>
          </p:cNvSpPr>
          <p:nvPr>
            <p:ph type="pic" idx="4"/>
          </p:nvPr>
        </p:nvSpPr>
        <p:spPr>
          <a:xfrm>
            <a:off x="4523050" y="2158000"/>
            <a:ext cx="4394100" cy="2282700"/>
          </a:xfrm>
          <a:prstGeom prst="roundRect">
            <a:avLst>
              <a:gd name="adj" fmla="val 6108"/>
            </a:avLst>
          </a:prstGeom>
          <a:noFill/>
          <a:ln w="9525" cap="flat" cmpd="sng">
            <a:solidFill>
              <a:schemeClr val="accent1"/>
            </a:solidFill>
            <a:prstDash val="solid"/>
            <a:round/>
            <a:headEnd type="none" w="sm" len="sm"/>
            <a:tailEnd type="none" w="sm" len="sm"/>
          </a:ln>
        </p:spPr>
      </p:sp>
      <p:sp>
        <p:nvSpPr>
          <p:cNvPr id="112" name="Google Shape;112;p18"/>
          <p:cNvSpPr txBox="1">
            <a:spLocks noGrp="1"/>
          </p:cNvSpPr>
          <p:nvPr>
            <p:ph type="body" idx="1"/>
          </p:nvPr>
        </p:nvSpPr>
        <p:spPr>
          <a:xfrm>
            <a:off x="233850" y="3127075"/>
            <a:ext cx="2920800" cy="1313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13" name="Google Shape;113;p18"/>
          <p:cNvSpPr txBox="1">
            <a:spLocks noGrp="1"/>
          </p:cNvSpPr>
          <p:nvPr>
            <p:ph type="subTitle" idx="5"/>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4" name="Google Shape;114;p18"/>
          <p:cNvSpPr txBox="1">
            <a:spLocks noGrp="1"/>
          </p:cNvSpPr>
          <p:nvPr>
            <p:ph type="subTitle" idx="6"/>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5" name="Google Shape;115;p18"/>
          <p:cNvSpPr txBox="1">
            <a:spLocks noGrp="1"/>
          </p:cNvSpPr>
          <p:nvPr>
            <p:ph type="subTitle" idx="7"/>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6" name="Google Shape;116;p1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8" name="Google Shape;118;p18"/>
          <p:cNvSpPr txBox="1">
            <a:spLocks noGrp="1"/>
          </p:cNvSpPr>
          <p:nvPr>
            <p:ph type="subTitle" idx="8"/>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cxnSp>
        <p:nvCxnSpPr>
          <p:cNvPr id="119" name="Google Shape;119;p1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 ALT 1">
  <p:cSld name="BLANK_1_1_1_1_2">
    <p:spTree>
      <p:nvGrpSpPr>
        <p:cNvPr id="1"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r="15469" b="14588"/>
          <a:stretch/>
        </p:blipFill>
        <p:spPr>
          <a:xfrm>
            <a:off x="25" y="1172500"/>
            <a:ext cx="5181349" cy="3493250"/>
          </a:xfrm>
          <a:prstGeom prst="rect">
            <a:avLst/>
          </a:prstGeom>
          <a:noFill/>
          <a:ln>
            <a:noFill/>
          </a:ln>
        </p:spPr>
      </p:pic>
      <p:sp>
        <p:nvSpPr>
          <p:cNvPr id="122" name="Google Shape;122;p1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3" name="Google Shape;123;p1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4" name="Google Shape;124;p1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5" name="Google Shape;125;p19"/>
          <p:cNvSpPr txBox="1">
            <a:spLocks noGrp="1"/>
          </p:cNvSpPr>
          <p:nvPr>
            <p:ph type="title"/>
          </p:nvPr>
        </p:nvSpPr>
        <p:spPr>
          <a:xfrm>
            <a:off x="277500" y="22860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cxnSp>
        <p:nvCxnSpPr>
          <p:cNvPr id="126" name="Google Shape;126;p1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27" name="Google Shape;127;p19"/>
          <p:cNvSpPr txBox="1">
            <a:spLocks noGrp="1"/>
          </p:cNvSpPr>
          <p:nvPr>
            <p:ph type="subTitle" idx="4"/>
          </p:nvPr>
        </p:nvSpPr>
        <p:spPr>
          <a:xfrm>
            <a:off x="4744575" y="38715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8" name="Google Shape;128;p19"/>
          <p:cNvSpPr txBox="1">
            <a:spLocks noGrp="1"/>
          </p:cNvSpPr>
          <p:nvPr>
            <p:ph type="subTitle" idx="5"/>
          </p:nvPr>
        </p:nvSpPr>
        <p:spPr>
          <a:xfrm>
            <a:off x="4744575" y="1066588"/>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9" name="Google Shape;129;p19"/>
          <p:cNvSpPr txBox="1">
            <a:spLocks noGrp="1"/>
          </p:cNvSpPr>
          <p:nvPr>
            <p:ph type="subTitle" idx="6"/>
          </p:nvPr>
        </p:nvSpPr>
        <p:spPr>
          <a:xfrm>
            <a:off x="4744575" y="174270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0" name="Google Shape;130;p19"/>
          <p:cNvSpPr txBox="1">
            <a:spLocks noGrp="1"/>
          </p:cNvSpPr>
          <p:nvPr>
            <p:ph type="subTitle" idx="7"/>
          </p:nvPr>
        </p:nvSpPr>
        <p:spPr>
          <a:xfrm>
            <a:off x="4744575" y="2420513"/>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1" name="Google Shape;131;p19"/>
          <p:cNvSpPr txBox="1">
            <a:spLocks noGrp="1"/>
          </p:cNvSpPr>
          <p:nvPr>
            <p:ph type="subTitle" idx="8"/>
          </p:nvPr>
        </p:nvSpPr>
        <p:spPr>
          <a:xfrm>
            <a:off x="4744575" y="30982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2" name="Google Shape;132;p19"/>
          <p:cNvSpPr txBox="1">
            <a:spLocks noGrp="1"/>
          </p:cNvSpPr>
          <p:nvPr>
            <p:ph type="subTitle" idx="9"/>
          </p:nvPr>
        </p:nvSpPr>
        <p:spPr>
          <a:xfrm>
            <a:off x="4744575" y="37760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3" name="Google Shape;133;p19"/>
          <p:cNvSpPr txBox="1">
            <a:spLocks noGrp="1"/>
          </p:cNvSpPr>
          <p:nvPr>
            <p:ph type="subTitle" idx="13"/>
          </p:nvPr>
        </p:nvSpPr>
        <p:spPr>
          <a:xfrm>
            <a:off x="5067075" y="3871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4" name="Google Shape;134;p19"/>
          <p:cNvSpPr txBox="1">
            <a:spLocks noGrp="1"/>
          </p:cNvSpPr>
          <p:nvPr>
            <p:ph type="subTitle" idx="14"/>
          </p:nvPr>
        </p:nvSpPr>
        <p:spPr>
          <a:xfrm>
            <a:off x="5067075" y="10615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5" name="Google Shape;135;p19"/>
          <p:cNvSpPr txBox="1">
            <a:spLocks noGrp="1"/>
          </p:cNvSpPr>
          <p:nvPr>
            <p:ph type="subTitle" idx="15"/>
          </p:nvPr>
        </p:nvSpPr>
        <p:spPr>
          <a:xfrm>
            <a:off x="5067075" y="17393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6" name="Google Shape;136;p19"/>
          <p:cNvSpPr txBox="1">
            <a:spLocks noGrp="1"/>
          </p:cNvSpPr>
          <p:nvPr>
            <p:ph type="subTitle" idx="16"/>
          </p:nvPr>
        </p:nvSpPr>
        <p:spPr>
          <a:xfrm>
            <a:off x="5067075" y="242410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7" name="Google Shape;137;p19"/>
          <p:cNvSpPr txBox="1">
            <a:spLocks noGrp="1"/>
          </p:cNvSpPr>
          <p:nvPr>
            <p:ph type="subTitle" idx="17"/>
          </p:nvPr>
        </p:nvSpPr>
        <p:spPr>
          <a:xfrm>
            <a:off x="5067075" y="309493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8" name="Google Shape;138;p19"/>
          <p:cNvSpPr txBox="1">
            <a:spLocks noGrp="1"/>
          </p:cNvSpPr>
          <p:nvPr>
            <p:ph type="subTitle" idx="18"/>
          </p:nvPr>
        </p:nvSpPr>
        <p:spPr>
          <a:xfrm>
            <a:off x="5067075" y="37657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9" name="Google Shape;139;p1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images">
  <p:cSld name="BLANK_1_1_1_1_2_1">
    <p:spTree>
      <p:nvGrpSpPr>
        <p:cNvPr id="1" name="Shape 141"/>
        <p:cNvGrpSpPr/>
        <p:nvPr/>
      </p:nvGrpSpPr>
      <p:grpSpPr>
        <a:xfrm>
          <a:off x="0" y="0"/>
          <a:ext cx="0" cy="0"/>
          <a:chOff x="0" y="0"/>
          <a:chExt cx="0" cy="0"/>
        </a:xfrm>
      </p:grpSpPr>
      <p:sp>
        <p:nvSpPr>
          <p:cNvPr id="142" name="Google Shape;142;p20"/>
          <p:cNvSpPr>
            <a:spLocks noGrp="1"/>
          </p:cNvSpPr>
          <p:nvPr>
            <p:ph type="pic" idx="2"/>
          </p:nvPr>
        </p:nvSpPr>
        <p:spPr>
          <a:xfrm>
            <a:off x="4618950" y="228600"/>
            <a:ext cx="1370400" cy="1357500"/>
          </a:xfrm>
          <a:prstGeom prst="roundRect">
            <a:avLst>
              <a:gd name="adj" fmla="val 16935"/>
            </a:avLst>
          </a:prstGeom>
          <a:noFill/>
          <a:ln>
            <a:noFill/>
          </a:ln>
        </p:spPr>
      </p:sp>
      <p:sp>
        <p:nvSpPr>
          <p:cNvPr id="143" name="Google Shape;143;p20"/>
          <p:cNvSpPr txBox="1">
            <a:spLocks noGrp="1"/>
          </p:cNvSpPr>
          <p:nvPr>
            <p:ph type="subTitle" idx="1"/>
          </p:nvPr>
        </p:nvSpPr>
        <p:spPr>
          <a:xfrm>
            <a:off x="4619000" y="1702322"/>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44" name="Google Shape;144;p20"/>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5" name="Google Shape;145;p20"/>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6" name="Google Shape;146;p20"/>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7" name="Google Shape;147;p20"/>
          <p:cNvSpPr txBox="1">
            <a:spLocks noGrp="1"/>
          </p:cNvSpPr>
          <p:nvPr>
            <p:ph type="title"/>
          </p:nvPr>
        </p:nvSpPr>
        <p:spPr>
          <a:xfrm>
            <a:off x="228600" y="23475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48" name="Google Shape;148;p20"/>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49" name="Google Shape;149;p20"/>
          <p:cNvSpPr>
            <a:spLocks noGrp="1"/>
          </p:cNvSpPr>
          <p:nvPr>
            <p:ph type="pic" idx="7"/>
          </p:nvPr>
        </p:nvSpPr>
        <p:spPr>
          <a:xfrm>
            <a:off x="6080700" y="228600"/>
            <a:ext cx="1370400" cy="1357500"/>
          </a:xfrm>
          <a:prstGeom prst="roundRect">
            <a:avLst>
              <a:gd name="adj" fmla="val 16935"/>
            </a:avLst>
          </a:prstGeom>
          <a:noFill/>
          <a:ln>
            <a:noFill/>
          </a:ln>
        </p:spPr>
      </p:sp>
      <p:sp>
        <p:nvSpPr>
          <p:cNvPr id="150" name="Google Shape;150;p20"/>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1" name="Google Shape;151;p20"/>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2" name="Google Shape;152;p20"/>
          <p:cNvSpPr>
            <a:spLocks noGrp="1"/>
          </p:cNvSpPr>
          <p:nvPr>
            <p:ph type="pic" idx="13"/>
          </p:nvPr>
        </p:nvSpPr>
        <p:spPr>
          <a:xfrm>
            <a:off x="7542450" y="228600"/>
            <a:ext cx="1370400" cy="1357500"/>
          </a:xfrm>
          <a:prstGeom prst="roundRect">
            <a:avLst>
              <a:gd name="adj" fmla="val 16935"/>
            </a:avLst>
          </a:prstGeom>
          <a:noFill/>
          <a:ln>
            <a:noFill/>
          </a:ln>
        </p:spPr>
      </p:sp>
      <p:sp>
        <p:nvSpPr>
          <p:cNvPr id="153" name="Google Shape;153;p20"/>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4" name="Google Shape;154;p20"/>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5" name="Google Shape;155;p20"/>
          <p:cNvSpPr>
            <a:spLocks noGrp="1"/>
          </p:cNvSpPr>
          <p:nvPr>
            <p:ph type="pic" idx="16"/>
          </p:nvPr>
        </p:nvSpPr>
        <p:spPr>
          <a:xfrm>
            <a:off x="4618950" y="2295725"/>
            <a:ext cx="1370400" cy="1357500"/>
          </a:xfrm>
          <a:prstGeom prst="roundRect">
            <a:avLst>
              <a:gd name="adj" fmla="val 16935"/>
            </a:avLst>
          </a:prstGeom>
          <a:noFill/>
          <a:ln>
            <a:noFill/>
          </a:ln>
        </p:spPr>
      </p:sp>
      <p:sp>
        <p:nvSpPr>
          <p:cNvPr id="156" name="Google Shape;156;p20"/>
          <p:cNvSpPr txBox="1">
            <a:spLocks noGrp="1"/>
          </p:cNvSpPr>
          <p:nvPr>
            <p:ph type="subTitle" idx="17"/>
          </p:nvPr>
        </p:nvSpPr>
        <p:spPr>
          <a:xfrm>
            <a:off x="46190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7" name="Google Shape;157;p20"/>
          <p:cNvSpPr txBox="1">
            <a:spLocks noGrp="1"/>
          </p:cNvSpPr>
          <p:nvPr>
            <p:ph type="subTitle" idx="18"/>
          </p:nvPr>
        </p:nvSpPr>
        <p:spPr>
          <a:xfrm>
            <a:off x="46190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8" name="Google Shape;158;p20"/>
          <p:cNvSpPr>
            <a:spLocks noGrp="1"/>
          </p:cNvSpPr>
          <p:nvPr>
            <p:ph type="pic" idx="19"/>
          </p:nvPr>
        </p:nvSpPr>
        <p:spPr>
          <a:xfrm>
            <a:off x="6080700" y="2295725"/>
            <a:ext cx="1370400" cy="1357500"/>
          </a:xfrm>
          <a:prstGeom prst="roundRect">
            <a:avLst>
              <a:gd name="adj" fmla="val 16935"/>
            </a:avLst>
          </a:prstGeom>
          <a:noFill/>
          <a:ln>
            <a:noFill/>
          </a:ln>
        </p:spPr>
      </p:sp>
      <p:sp>
        <p:nvSpPr>
          <p:cNvPr id="159" name="Google Shape;159;p20"/>
          <p:cNvSpPr txBox="1">
            <a:spLocks noGrp="1"/>
          </p:cNvSpPr>
          <p:nvPr>
            <p:ph type="subTitle" idx="20"/>
          </p:nvPr>
        </p:nvSpPr>
        <p:spPr>
          <a:xfrm>
            <a:off x="6080750" y="3769447"/>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0" name="Google Shape;160;p20"/>
          <p:cNvSpPr txBox="1">
            <a:spLocks noGrp="1"/>
          </p:cNvSpPr>
          <p:nvPr>
            <p:ph type="subTitle" idx="21"/>
          </p:nvPr>
        </p:nvSpPr>
        <p:spPr>
          <a:xfrm>
            <a:off x="608075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61" name="Google Shape;161;p20"/>
          <p:cNvSpPr>
            <a:spLocks noGrp="1"/>
          </p:cNvSpPr>
          <p:nvPr>
            <p:ph type="pic" idx="22"/>
          </p:nvPr>
        </p:nvSpPr>
        <p:spPr>
          <a:xfrm>
            <a:off x="7542450" y="2295725"/>
            <a:ext cx="1370400" cy="1357500"/>
          </a:xfrm>
          <a:prstGeom prst="roundRect">
            <a:avLst>
              <a:gd name="adj" fmla="val 16935"/>
            </a:avLst>
          </a:prstGeom>
          <a:noFill/>
          <a:ln>
            <a:noFill/>
          </a:ln>
        </p:spPr>
      </p:sp>
      <p:sp>
        <p:nvSpPr>
          <p:cNvPr id="162" name="Google Shape;162;p20"/>
          <p:cNvSpPr txBox="1">
            <a:spLocks noGrp="1"/>
          </p:cNvSpPr>
          <p:nvPr>
            <p:ph type="subTitle" idx="23"/>
          </p:nvPr>
        </p:nvSpPr>
        <p:spPr>
          <a:xfrm>
            <a:off x="75425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3" name="Google Shape;163;p20"/>
          <p:cNvSpPr txBox="1">
            <a:spLocks noGrp="1"/>
          </p:cNvSpPr>
          <p:nvPr>
            <p:ph type="subTitle" idx="24"/>
          </p:nvPr>
        </p:nvSpPr>
        <p:spPr>
          <a:xfrm>
            <a:off x="75425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cxnSp>
        <p:nvCxnSpPr>
          <p:cNvPr id="164" name="Google Shape;164;p2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65" name="Google Shape;165;p2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ALT 2">
  <p:cSld name="BLANK_1_1_1_1_1_1">
    <p:spTree>
      <p:nvGrpSpPr>
        <p:cNvPr id="1" name="Shape 167"/>
        <p:cNvGrpSpPr/>
        <p:nvPr/>
      </p:nvGrpSpPr>
      <p:grpSpPr>
        <a:xfrm>
          <a:off x="0" y="0"/>
          <a:ext cx="0" cy="0"/>
          <a:chOff x="0" y="0"/>
          <a:chExt cx="0" cy="0"/>
        </a:xfrm>
      </p:grpSpPr>
      <p:sp>
        <p:nvSpPr>
          <p:cNvPr id="168" name="Google Shape;168;p21"/>
          <p:cNvSpPr>
            <a:spLocks noGrp="1"/>
          </p:cNvSpPr>
          <p:nvPr>
            <p:ph type="pic" idx="2"/>
          </p:nvPr>
        </p:nvSpPr>
        <p:spPr>
          <a:xfrm>
            <a:off x="9425" y="-3075"/>
            <a:ext cx="9144000" cy="4641000"/>
          </a:xfrm>
          <a:prstGeom prst="rect">
            <a:avLst/>
          </a:prstGeom>
          <a:noFill/>
          <a:ln>
            <a:noFill/>
          </a:ln>
        </p:spPr>
      </p:sp>
      <p:sp>
        <p:nvSpPr>
          <p:cNvPr id="169" name="Google Shape;169;p21"/>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170" name="Google Shape;170;p21"/>
          <p:cNvSpPr txBox="1">
            <a:spLocks noGrp="1"/>
          </p:cNvSpPr>
          <p:nvPr>
            <p:ph type="subTitle" idx="1"/>
          </p:nvPr>
        </p:nvSpPr>
        <p:spPr>
          <a:xfrm>
            <a:off x="228600" y="228600"/>
            <a:ext cx="28701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171" name="Google Shape;171;p21"/>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2" name="Google Shape;172;p21"/>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3" name="Google Shape;173;p21"/>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74" name="Google Shape;174;p2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75" name="Google Shape;175;p2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ds w/ images">
  <p:cSld name="BLANK_1_1_1_1_1_1_1_1_1_1_3">
    <p:spTree>
      <p:nvGrpSpPr>
        <p:cNvPr id="1" name="Shape 177"/>
        <p:cNvGrpSpPr/>
        <p:nvPr/>
      </p:nvGrpSpPr>
      <p:grpSpPr>
        <a:xfrm>
          <a:off x="0" y="0"/>
          <a:ext cx="0" cy="0"/>
          <a:chOff x="0" y="0"/>
          <a:chExt cx="0" cy="0"/>
        </a:xfrm>
      </p:grpSpPr>
      <p:sp>
        <p:nvSpPr>
          <p:cNvPr id="178" name="Google Shape;178;p22"/>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9" name="Google Shape;179;p22"/>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80" name="Google Shape;180;p22"/>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22"/>
              <p:cNvCxnSpPr/>
              <p:nvPr/>
            </p:nvCxnSpPr>
            <p:spPr>
              <a:xfrm flipH="1">
                <a:off x="601325" y="2069800"/>
                <a:ext cx="102600" cy="102600"/>
              </a:xfrm>
              <a:prstGeom prst="straightConnector1">
                <a:avLst/>
              </a:prstGeom>
              <a:noFill/>
              <a:ln w="9525" cap="flat" cmpd="sng">
                <a:solidFill>
                  <a:schemeClr val="dk1"/>
                </a:solidFill>
                <a:prstDash val="solid"/>
                <a:round/>
                <a:headEnd type="none" w="med" len="med"/>
                <a:tailEnd type="none" w="med" len="med"/>
              </a:ln>
            </p:spPr>
          </p:cxnSp>
        </p:grpSp>
      </p:grpSp>
      <p:sp>
        <p:nvSpPr>
          <p:cNvPr id="186" name="Google Shape;186;p22"/>
          <p:cNvSpPr>
            <a:spLocks noGrp="1"/>
          </p:cNvSpPr>
          <p:nvPr>
            <p:ph type="pic" idx="4"/>
          </p:nvPr>
        </p:nvSpPr>
        <p:spPr>
          <a:xfrm>
            <a:off x="426700" y="1896600"/>
            <a:ext cx="665400" cy="685500"/>
          </a:xfrm>
          <a:prstGeom prst="roundRect">
            <a:avLst>
              <a:gd name="adj" fmla="val 17601"/>
            </a:avLst>
          </a:prstGeom>
          <a:noFill/>
          <a:ln>
            <a:noFill/>
          </a:ln>
        </p:spPr>
      </p:sp>
      <p:sp>
        <p:nvSpPr>
          <p:cNvPr id="187" name="Google Shape;187;p22"/>
          <p:cNvSpPr txBox="1">
            <a:spLocks noGrp="1"/>
          </p:cNvSpPr>
          <p:nvPr>
            <p:ph type="subTitle" idx="5"/>
          </p:nvPr>
        </p:nvSpPr>
        <p:spPr>
          <a:xfrm>
            <a:off x="426700" y="2708802"/>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88" name="Google Shape;188;p22"/>
          <p:cNvSpPr txBox="1">
            <a:spLocks noGrp="1"/>
          </p:cNvSpPr>
          <p:nvPr>
            <p:ph type="subTitle" idx="6"/>
          </p:nvPr>
        </p:nvSpPr>
        <p:spPr>
          <a:xfrm>
            <a:off x="4267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89" name="Google Shape;189;p22"/>
          <p:cNvSpPr txBox="1">
            <a:spLocks noGrp="1"/>
          </p:cNvSpPr>
          <p:nvPr>
            <p:ph type="body" idx="7"/>
          </p:nvPr>
        </p:nvSpPr>
        <p:spPr>
          <a:xfrm>
            <a:off x="4267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0" name="Google Shape;190;p22"/>
          <p:cNvSpPr>
            <a:spLocks noGrp="1"/>
          </p:cNvSpPr>
          <p:nvPr>
            <p:ph type="pic" idx="8"/>
          </p:nvPr>
        </p:nvSpPr>
        <p:spPr>
          <a:xfrm>
            <a:off x="2621800" y="1896600"/>
            <a:ext cx="665400" cy="685500"/>
          </a:xfrm>
          <a:prstGeom prst="roundRect">
            <a:avLst>
              <a:gd name="adj" fmla="val 17601"/>
            </a:avLst>
          </a:prstGeom>
          <a:noFill/>
          <a:ln>
            <a:noFill/>
          </a:ln>
        </p:spPr>
      </p:sp>
      <p:sp>
        <p:nvSpPr>
          <p:cNvPr id="191" name="Google Shape;191;p22"/>
          <p:cNvSpPr txBox="1">
            <a:spLocks noGrp="1"/>
          </p:cNvSpPr>
          <p:nvPr>
            <p:ph type="subTitle" idx="9"/>
          </p:nvPr>
        </p:nvSpPr>
        <p:spPr>
          <a:xfrm>
            <a:off x="26218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2" name="Google Shape;192;p22"/>
          <p:cNvSpPr txBox="1">
            <a:spLocks noGrp="1"/>
          </p:cNvSpPr>
          <p:nvPr>
            <p:ph type="subTitle" idx="13"/>
          </p:nvPr>
        </p:nvSpPr>
        <p:spPr>
          <a:xfrm>
            <a:off x="2621800" y="2936075"/>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3" name="Google Shape;193;p22"/>
          <p:cNvSpPr txBox="1">
            <a:spLocks noGrp="1"/>
          </p:cNvSpPr>
          <p:nvPr>
            <p:ph type="body" idx="14"/>
          </p:nvPr>
        </p:nvSpPr>
        <p:spPr>
          <a:xfrm>
            <a:off x="2621800" y="3251425"/>
            <a:ext cx="17058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4" name="Google Shape;194;p22"/>
          <p:cNvSpPr>
            <a:spLocks noGrp="1"/>
          </p:cNvSpPr>
          <p:nvPr>
            <p:ph type="pic" idx="15"/>
          </p:nvPr>
        </p:nvSpPr>
        <p:spPr>
          <a:xfrm>
            <a:off x="4816900" y="1896600"/>
            <a:ext cx="665400" cy="685500"/>
          </a:xfrm>
          <a:prstGeom prst="roundRect">
            <a:avLst>
              <a:gd name="adj" fmla="val 17601"/>
            </a:avLst>
          </a:prstGeom>
          <a:noFill/>
          <a:ln>
            <a:noFill/>
          </a:ln>
        </p:spPr>
      </p:sp>
      <p:sp>
        <p:nvSpPr>
          <p:cNvPr id="195" name="Google Shape;195;p22"/>
          <p:cNvSpPr txBox="1">
            <a:spLocks noGrp="1"/>
          </p:cNvSpPr>
          <p:nvPr>
            <p:ph type="subTitle" idx="16"/>
          </p:nvPr>
        </p:nvSpPr>
        <p:spPr>
          <a:xfrm>
            <a:off x="4816900" y="2708808"/>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6" name="Google Shape;196;p22"/>
          <p:cNvSpPr txBox="1">
            <a:spLocks noGrp="1"/>
          </p:cNvSpPr>
          <p:nvPr>
            <p:ph type="subTitle" idx="17"/>
          </p:nvPr>
        </p:nvSpPr>
        <p:spPr>
          <a:xfrm>
            <a:off x="48169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7" name="Google Shape;197;p22"/>
          <p:cNvSpPr txBox="1">
            <a:spLocks noGrp="1"/>
          </p:cNvSpPr>
          <p:nvPr>
            <p:ph type="body" idx="18"/>
          </p:nvPr>
        </p:nvSpPr>
        <p:spPr>
          <a:xfrm>
            <a:off x="4817025"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8" name="Google Shape;198;p22"/>
          <p:cNvSpPr>
            <a:spLocks noGrp="1"/>
          </p:cNvSpPr>
          <p:nvPr>
            <p:ph type="pic" idx="19"/>
          </p:nvPr>
        </p:nvSpPr>
        <p:spPr>
          <a:xfrm>
            <a:off x="7012000" y="1896600"/>
            <a:ext cx="665400" cy="685500"/>
          </a:xfrm>
          <a:prstGeom prst="roundRect">
            <a:avLst>
              <a:gd name="adj" fmla="val 17601"/>
            </a:avLst>
          </a:prstGeom>
          <a:noFill/>
          <a:ln>
            <a:noFill/>
          </a:ln>
        </p:spPr>
      </p:sp>
      <p:sp>
        <p:nvSpPr>
          <p:cNvPr id="199" name="Google Shape;199;p22"/>
          <p:cNvSpPr txBox="1">
            <a:spLocks noGrp="1"/>
          </p:cNvSpPr>
          <p:nvPr>
            <p:ph type="subTitle" idx="20"/>
          </p:nvPr>
        </p:nvSpPr>
        <p:spPr>
          <a:xfrm>
            <a:off x="70120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200" name="Google Shape;200;p22"/>
          <p:cNvSpPr txBox="1">
            <a:spLocks noGrp="1"/>
          </p:cNvSpPr>
          <p:nvPr>
            <p:ph type="subTitle" idx="21"/>
          </p:nvPr>
        </p:nvSpPr>
        <p:spPr>
          <a:xfrm>
            <a:off x="70120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1" name="Google Shape;201;p22"/>
          <p:cNvSpPr txBox="1">
            <a:spLocks noGrp="1"/>
          </p:cNvSpPr>
          <p:nvPr>
            <p:ph type="body" idx="22"/>
          </p:nvPr>
        </p:nvSpPr>
        <p:spPr>
          <a:xfrm>
            <a:off x="70120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cxnSp>
        <p:nvCxnSpPr>
          <p:cNvPr id="202" name="Google Shape;202;p2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3" name="Google Shape;203;p2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hort big title and body">
  <p:cSld name="BLANK_1_1_1_1_1_1_1_1_1_1_2">
    <p:spTree>
      <p:nvGrpSpPr>
        <p:cNvPr id="1" name="Shape 205"/>
        <p:cNvGrpSpPr/>
        <p:nvPr/>
      </p:nvGrpSpPr>
      <p:grpSpPr>
        <a:xfrm>
          <a:off x="0" y="0"/>
          <a:ext cx="0" cy="0"/>
          <a:chOff x="0" y="0"/>
          <a:chExt cx="0" cy="0"/>
        </a:xfrm>
      </p:grpSpPr>
      <p:pic>
        <p:nvPicPr>
          <p:cNvPr id="206" name="Google Shape;206;p23" descr="Oval black shapes against a shadowy background. "/>
          <p:cNvPicPr preferRelativeResize="0"/>
          <p:nvPr/>
        </p:nvPicPr>
        <p:blipFill rotWithShape="1">
          <a:blip r:embed="rId2">
            <a:alphaModFix/>
          </a:blip>
          <a:srcRect l="17240" t="34" r="25038" b="42245"/>
          <a:stretch/>
        </p:blipFill>
        <p:spPr>
          <a:xfrm>
            <a:off x="0" y="-289"/>
            <a:ext cx="9144000" cy="5144100"/>
          </a:xfrm>
          <a:prstGeom prst="roundRect">
            <a:avLst>
              <a:gd name="adj" fmla="val 0"/>
            </a:avLst>
          </a:prstGeom>
          <a:noFill/>
          <a:ln w="9525" cap="flat" cmpd="sng">
            <a:solidFill>
              <a:schemeClr val="accent1"/>
            </a:solidFill>
            <a:prstDash val="solid"/>
            <a:round/>
            <a:headEnd type="none" w="sm" len="sm"/>
            <a:tailEnd type="none" w="sm" len="sm"/>
          </a:ln>
        </p:spPr>
      </p:pic>
      <p:sp>
        <p:nvSpPr>
          <p:cNvPr id="207" name="Google Shape;207;p23"/>
          <p:cNvSpPr txBox="1">
            <a:spLocks noGrp="1"/>
          </p:cNvSpPr>
          <p:nvPr>
            <p:ph type="subTitle" idx="1"/>
          </p:nvPr>
        </p:nvSpPr>
        <p:spPr>
          <a:xfrm>
            <a:off x="4314775" y="3818375"/>
            <a:ext cx="4230600" cy="4527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8" name="Google Shape;208;p2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9" name="Google Shape;209;p2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0" name="Google Shape;210;p2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1" name="Google Shape;211;p23"/>
          <p:cNvSpPr txBox="1">
            <a:spLocks noGrp="1"/>
          </p:cNvSpPr>
          <p:nvPr>
            <p:ph type="title"/>
          </p:nvPr>
        </p:nvSpPr>
        <p:spPr>
          <a:xfrm>
            <a:off x="228600" y="290448"/>
            <a:ext cx="3655800" cy="24075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212" name="Google Shape;212;p2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23"/>
          <p:cNvCxnSpPr/>
          <p:nvPr/>
        </p:nvCxnSpPr>
        <p:spPr>
          <a:xfrm>
            <a:off x="4159025" y="226100"/>
            <a:ext cx="0" cy="4457700"/>
          </a:xfrm>
          <a:prstGeom prst="straightConnector1">
            <a:avLst/>
          </a:prstGeom>
          <a:noFill/>
          <a:ln w="9525" cap="flat" cmpd="sng">
            <a:solidFill>
              <a:schemeClr val="accent1"/>
            </a:solidFill>
            <a:prstDash val="solid"/>
            <a:round/>
            <a:headEnd type="none" w="med" len="med"/>
            <a:tailEnd type="none" w="med" len="med"/>
          </a:ln>
        </p:spPr>
      </p:cxnSp>
      <p:cxnSp>
        <p:nvCxnSpPr>
          <p:cNvPr id="214" name="Google Shape;214;p23"/>
          <p:cNvCxnSpPr/>
          <p:nvPr/>
        </p:nvCxnSpPr>
        <p:spPr>
          <a:xfrm>
            <a:off x="228600" y="226100"/>
            <a:ext cx="8687100" cy="0"/>
          </a:xfrm>
          <a:prstGeom prst="straightConnector1">
            <a:avLst/>
          </a:prstGeom>
          <a:noFill/>
          <a:ln w="9525" cap="flat" cmpd="sng">
            <a:solidFill>
              <a:schemeClr val="accent1"/>
            </a:solidFill>
            <a:prstDash val="solid"/>
            <a:round/>
            <a:headEnd type="none" w="med" len="med"/>
            <a:tailEnd type="none" w="med" len="med"/>
          </a:ln>
        </p:spPr>
      </p:cxnSp>
      <p:sp>
        <p:nvSpPr>
          <p:cNvPr id="215" name="Google Shape;215;p2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ALT 2">
  <p:cSld name="BLANK_1_1_1_1_1_1_1_1_1_1_1_1_2">
    <p:spTree>
      <p:nvGrpSpPr>
        <p:cNvPr id="1" name="Shape 217"/>
        <p:cNvGrpSpPr/>
        <p:nvPr/>
      </p:nvGrpSpPr>
      <p:grpSpPr>
        <a:xfrm>
          <a:off x="0" y="0"/>
          <a:ext cx="0" cy="0"/>
          <a:chOff x="0" y="0"/>
          <a:chExt cx="0" cy="0"/>
        </a:xfrm>
      </p:grpSpPr>
      <p:sp>
        <p:nvSpPr>
          <p:cNvPr id="218" name="Google Shape;218;p24"/>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sz="1400"/>
            </a:lvl2pPr>
            <a:lvl3pPr marL="1371600" lvl="2" indent="-317500">
              <a:spcBef>
                <a:spcPts val="800"/>
              </a:spcBef>
              <a:spcAft>
                <a:spcPts val="0"/>
              </a:spcAft>
              <a:buSzPts val="1400"/>
              <a:buChar char="■"/>
              <a:defRPr sz="1400"/>
            </a:lvl3pPr>
            <a:lvl4pPr marL="1828800" lvl="3" indent="-317500">
              <a:spcBef>
                <a:spcPts val="800"/>
              </a:spcBef>
              <a:spcAft>
                <a:spcPts val="0"/>
              </a:spcAft>
              <a:buSzPts val="1400"/>
              <a:buChar char="●"/>
              <a:defRPr sz="1400"/>
            </a:lvl4pPr>
            <a:lvl5pPr marL="2286000" lvl="4" indent="-317500">
              <a:spcBef>
                <a:spcPts val="800"/>
              </a:spcBef>
              <a:spcAft>
                <a:spcPts val="0"/>
              </a:spcAft>
              <a:buSzPts val="1400"/>
              <a:buChar char="○"/>
              <a:defRPr sz="1400"/>
            </a:lvl5pPr>
            <a:lvl6pPr marL="2743200" lvl="5" indent="-317500">
              <a:spcBef>
                <a:spcPts val="800"/>
              </a:spcBef>
              <a:spcAft>
                <a:spcPts val="0"/>
              </a:spcAft>
              <a:buSzPts val="1400"/>
              <a:buChar char="■"/>
              <a:defRPr sz="1400"/>
            </a:lvl6pPr>
            <a:lvl7pPr marL="3200400" lvl="6" indent="-317500">
              <a:spcBef>
                <a:spcPts val="800"/>
              </a:spcBef>
              <a:spcAft>
                <a:spcPts val="0"/>
              </a:spcAft>
              <a:buSzPts val="1400"/>
              <a:buChar char="●"/>
              <a:defRPr sz="1400"/>
            </a:lvl7pPr>
            <a:lvl8pPr marL="3657600" lvl="7" indent="-317500">
              <a:spcBef>
                <a:spcPts val="800"/>
              </a:spcBef>
              <a:spcAft>
                <a:spcPts val="0"/>
              </a:spcAft>
              <a:buSzPts val="1400"/>
              <a:buChar char="○"/>
              <a:defRPr sz="1400"/>
            </a:lvl8pPr>
            <a:lvl9pPr marL="4114800" lvl="8" indent="-317500">
              <a:spcBef>
                <a:spcPts val="800"/>
              </a:spcBef>
              <a:spcAft>
                <a:spcPts val="800"/>
              </a:spcAft>
              <a:buSzPts val="1400"/>
              <a:buChar char="■"/>
              <a:defRPr sz="1400"/>
            </a:lvl9pPr>
          </a:lstStyle>
          <a:p>
            <a:endParaRPr/>
          </a:p>
        </p:txBody>
      </p:sp>
      <p:sp>
        <p:nvSpPr>
          <p:cNvPr id="219" name="Google Shape;219;p24"/>
          <p:cNvSpPr>
            <a:spLocks noGrp="1"/>
          </p:cNvSpPr>
          <p:nvPr>
            <p:ph type="pic" idx="2"/>
          </p:nvPr>
        </p:nvSpPr>
        <p:spPr>
          <a:xfrm>
            <a:off x="5342000" y="457200"/>
            <a:ext cx="3573300" cy="3995400"/>
          </a:xfrm>
          <a:prstGeom prst="roundRect">
            <a:avLst>
              <a:gd name="adj" fmla="val 6865"/>
            </a:avLst>
          </a:prstGeom>
          <a:noFill/>
          <a:ln>
            <a:noFill/>
          </a:ln>
        </p:spPr>
      </p:sp>
      <p:sp>
        <p:nvSpPr>
          <p:cNvPr id="220" name="Google Shape;220;p24"/>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1" name="Google Shape;221;p24"/>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2" name="Google Shape;222;p24"/>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3" name="Google Shape;223;p24"/>
          <p:cNvSpPr txBox="1">
            <a:spLocks noGrp="1"/>
          </p:cNvSpPr>
          <p:nvPr>
            <p:ph type="subTitle" idx="6"/>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sp>
        <p:nvSpPr>
          <p:cNvPr id="224" name="Google Shape;224;p24"/>
          <p:cNvSpPr txBox="1">
            <a:spLocks noGrp="1"/>
          </p:cNvSpPr>
          <p:nvPr>
            <p:ph type="title"/>
          </p:nvPr>
        </p:nvSpPr>
        <p:spPr>
          <a:xfrm>
            <a:off x="228600" y="613525"/>
            <a:ext cx="42966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cxnSp>
        <p:nvCxnSpPr>
          <p:cNvPr id="225" name="Google Shape;225;p2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26" name="Google Shape;226;p2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big cards">
  <p:cSld name="CUSTOM_1">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3386700" y="489887"/>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a:endParaRPr/>
          </a:p>
        </p:txBody>
      </p:sp>
      <p:sp>
        <p:nvSpPr>
          <p:cNvPr id="230" name="Google Shape;230;p25"/>
          <p:cNvSpPr txBox="1">
            <a:spLocks noGrp="1"/>
          </p:cNvSpPr>
          <p:nvPr>
            <p:ph type="subTitle" idx="1"/>
          </p:nvPr>
        </p:nvSpPr>
        <p:spPr>
          <a:xfrm>
            <a:off x="338670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1" name="Google Shape;231;p25"/>
          <p:cNvSpPr txBox="1">
            <a:spLocks noGrp="1"/>
          </p:cNvSpPr>
          <p:nvPr>
            <p:ph type="subTitle" idx="2"/>
          </p:nvPr>
        </p:nvSpPr>
        <p:spPr>
          <a:xfrm>
            <a:off x="338670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2" name="Google Shape;232;p25"/>
          <p:cNvSpPr txBox="1">
            <a:spLocks noGrp="1"/>
          </p:cNvSpPr>
          <p:nvPr>
            <p:ph type="title" idx="3"/>
          </p:nvPr>
        </p:nvSpPr>
        <p:spPr>
          <a:xfrm>
            <a:off x="6307650" y="482616"/>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33" name="Google Shape;233;p25"/>
          <p:cNvSpPr txBox="1">
            <a:spLocks noGrp="1"/>
          </p:cNvSpPr>
          <p:nvPr>
            <p:ph type="subTitle" idx="4"/>
          </p:nvPr>
        </p:nvSpPr>
        <p:spPr>
          <a:xfrm>
            <a:off x="630765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4" name="Google Shape;234;p25"/>
          <p:cNvSpPr txBox="1">
            <a:spLocks noGrp="1"/>
          </p:cNvSpPr>
          <p:nvPr>
            <p:ph type="subTitle" idx="5"/>
          </p:nvPr>
        </p:nvSpPr>
        <p:spPr>
          <a:xfrm>
            <a:off x="630765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5" name="Google Shape;235;p25"/>
          <p:cNvSpPr txBox="1">
            <a:spLocks noGrp="1"/>
          </p:cNvSpPr>
          <p:nvPr>
            <p:ph type="title" idx="6"/>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a:endParaRPr/>
          </a:p>
        </p:txBody>
      </p:sp>
      <p:sp>
        <p:nvSpPr>
          <p:cNvPr id="236" name="Google Shape;236;p25"/>
          <p:cNvSpPr txBox="1">
            <a:spLocks noGrp="1"/>
          </p:cNvSpPr>
          <p:nvPr>
            <p:ph type="subTitle" idx="7"/>
          </p:nvPr>
        </p:nvSpPr>
        <p:spPr>
          <a:xfrm>
            <a:off x="3482800" y="4057204"/>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7" name="Google Shape;237;p25"/>
          <p:cNvSpPr txBox="1">
            <a:spLocks noGrp="1"/>
          </p:cNvSpPr>
          <p:nvPr>
            <p:ph type="subTitle" idx="8"/>
          </p:nvPr>
        </p:nvSpPr>
        <p:spPr>
          <a:xfrm>
            <a:off x="6405300" y="4057079"/>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8" name="Google Shape;238;p25"/>
          <p:cNvSpPr txBox="1">
            <a:spLocks noGrp="1"/>
          </p:cNvSpPr>
          <p:nvPr>
            <p:ph type="subTitle" idx="9"/>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39" name="Google Shape;239;p25"/>
          <p:cNvSpPr txBox="1">
            <a:spLocks noGrp="1"/>
          </p:cNvSpPr>
          <p:nvPr>
            <p:ph type="subTitle" idx="1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0" name="Google Shape;240;p25"/>
          <p:cNvSpPr txBox="1">
            <a:spLocks noGrp="1"/>
          </p:cNvSpPr>
          <p:nvPr>
            <p:ph type="subTitle" idx="1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41" name="Google Shape;241;p2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rot="-5400000" flipH="1">
              <a:off x="498725" y="2069800"/>
              <a:ext cx="103500" cy="103500"/>
            </a:xfrm>
            <a:prstGeom prst="straightConnector1">
              <a:avLst/>
            </a:prstGeom>
            <a:noFill/>
            <a:ln w="9525" cap="flat" cmpd="sng">
              <a:solidFill>
                <a:schemeClr val="lt2"/>
              </a:solidFill>
              <a:prstDash val="solid"/>
              <a:round/>
              <a:headEnd type="none" w="med" len="med"/>
              <a:tailEnd type="none" w="med" len="med"/>
            </a:ln>
          </p:spPr>
        </p:cxnSp>
        <p:cxnSp>
          <p:nvCxnSpPr>
            <p:cNvPr id="244" name="Google Shape;244;p25"/>
            <p:cNvCxnSpPr/>
            <p:nvPr/>
          </p:nvCxnSpPr>
          <p:spPr>
            <a:xfrm rot="5400000">
              <a:off x="596825" y="2069200"/>
              <a:ext cx="106500" cy="107700"/>
            </a:xfrm>
            <a:prstGeom prst="straightConnector1">
              <a:avLst/>
            </a:prstGeom>
            <a:noFill/>
            <a:ln w="9525" cap="flat" cmpd="sng">
              <a:solidFill>
                <a:schemeClr val="lt2"/>
              </a:solidFill>
              <a:prstDash val="solid"/>
              <a:round/>
              <a:headEnd type="none" w="med" len="med"/>
              <a:tailEnd type="none" w="med" len="med"/>
            </a:ln>
          </p:spPr>
        </p:cxnSp>
      </p:grpSp>
      <p:sp>
        <p:nvSpPr>
          <p:cNvPr id="245" name="Google Shape;245;p2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our big cards">
  <p:cSld name="CUSTOM_1_1">
    <p:spTree>
      <p:nvGrpSpPr>
        <p:cNvPr id="1" name="Shape 247"/>
        <p:cNvGrpSpPr/>
        <p:nvPr/>
      </p:nvGrpSpPr>
      <p:grpSpPr>
        <a:xfrm>
          <a:off x="0" y="0"/>
          <a:ext cx="0" cy="0"/>
          <a:chOff x="0" y="0"/>
          <a:chExt cx="0" cy="0"/>
        </a:xfrm>
      </p:grpSpPr>
      <p:sp>
        <p:nvSpPr>
          <p:cNvPr id="248" name="Google Shape;248;p26"/>
          <p:cNvSpPr txBox="1">
            <a:spLocks noGrp="1"/>
          </p:cNvSpPr>
          <p:nvPr>
            <p:ph type="title"/>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249" name="Google Shape;249;p26"/>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0" name="Google Shape;250;p26"/>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1" name="Google Shape;251;p26"/>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52" name="Google Shape;252;p2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26"/>
          <p:cNvSpPr txBox="1">
            <a:spLocks noGrp="1"/>
          </p:cNvSpPr>
          <p:nvPr>
            <p:ph type="title" idx="4"/>
          </p:nvPr>
        </p:nvSpPr>
        <p:spPr>
          <a:xfrm>
            <a:off x="3379125"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4" name="Google Shape;254;p26"/>
          <p:cNvSpPr txBox="1">
            <a:spLocks noGrp="1"/>
          </p:cNvSpPr>
          <p:nvPr>
            <p:ph type="subTitle" idx="5"/>
          </p:nvPr>
        </p:nvSpPr>
        <p:spPr>
          <a:xfrm>
            <a:off x="3379125"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5" name="Google Shape;255;p26"/>
          <p:cNvSpPr txBox="1">
            <a:spLocks noGrp="1"/>
          </p:cNvSpPr>
          <p:nvPr>
            <p:ph type="subTitle" idx="6"/>
          </p:nvPr>
        </p:nvSpPr>
        <p:spPr>
          <a:xfrm>
            <a:off x="3379123"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6" name="Google Shape;256;p26"/>
          <p:cNvSpPr txBox="1">
            <a:spLocks noGrp="1"/>
          </p:cNvSpPr>
          <p:nvPr>
            <p:ph type="title" idx="7"/>
          </p:nvPr>
        </p:nvSpPr>
        <p:spPr>
          <a:xfrm>
            <a:off x="6318039"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7" name="Google Shape;257;p26"/>
          <p:cNvSpPr txBox="1">
            <a:spLocks noGrp="1"/>
          </p:cNvSpPr>
          <p:nvPr>
            <p:ph type="subTitle" idx="8"/>
          </p:nvPr>
        </p:nvSpPr>
        <p:spPr>
          <a:xfrm>
            <a:off x="6318039"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8" name="Google Shape;258;p26"/>
          <p:cNvSpPr txBox="1">
            <a:spLocks noGrp="1"/>
          </p:cNvSpPr>
          <p:nvPr>
            <p:ph type="subTitle" idx="9"/>
          </p:nvPr>
        </p:nvSpPr>
        <p:spPr>
          <a:xfrm>
            <a:off x="6318036"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9" name="Google Shape;259;p26"/>
          <p:cNvSpPr txBox="1">
            <a:spLocks noGrp="1"/>
          </p:cNvSpPr>
          <p:nvPr>
            <p:ph type="title" idx="13"/>
          </p:nvPr>
        </p:nvSpPr>
        <p:spPr>
          <a:xfrm>
            <a:off x="6318039"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0" name="Google Shape;260;p26"/>
          <p:cNvSpPr txBox="1">
            <a:spLocks noGrp="1"/>
          </p:cNvSpPr>
          <p:nvPr>
            <p:ph type="subTitle" idx="14"/>
          </p:nvPr>
        </p:nvSpPr>
        <p:spPr>
          <a:xfrm>
            <a:off x="6318039"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1" name="Google Shape;261;p26"/>
          <p:cNvSpPr txBox="1">
            <a:spLocks noGrp="1"/>
          </p:cNvSpPr>
          <p:nvPr>
            <p:ph type="subTitle" idx="15"/>
          </p:nvPr>
        </p:nvSpPr>
        <p:spPr>
          <a:xfrm>
            <a:off x="6318036"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2" name="Google Shape;262;p26"/>
          <p:cNvSpPr txBox="1">
            <a:spLocks noGrp="1"/>
          </p:cNvSpPr>
          <p:nvPr>
            <p:ph type="title" idx="16"/>
          </p:nvPr>
        </p:nvSpPr>
        <p:spPr>
          <a:xfrm>
            <a:off x="3379125"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3" name="Google Shape;263;p26"/>
          <p:cNvSpPr txBox="1">
            <a:spLocks noGrp="1"/>
          </p:cNvSpPr>
          <p:nvPr>
            <p:ph type="subTitle" idx="17"/>
          </p:nvPr>
        </p:nvSpPr>
        <p:spPr>
          <a:xfrm>
            <a:off x="3379125"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4" name="Google Shape;264;p26"/>
          <p:cNvSpPr txBox="1">
            <a:spLocks noGrp="1"/>
          </p:cNvSpPr>
          <p:nvPr>
            <p:ph type="subTitle" idx="18"/>
          </p:nvPr>
        </p:nvSpPr>
        <p:spPr>
          <a:xfrm>
            <a:off x="3379123"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5" name="Google Shape;265;p2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meline">
  <p:cSld name="CUSTOM_7_1_1_1_1_1_1_1_1_1_1_1_1_1_1_1_1_1">
    <p:spTree>
      <p:nvGrpSpPr>
        <p:cNvPr id="1"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r="15469" b="14588"/>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70" name="Google Shape;270;p2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1" name="Google Shape;271;p2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2" name="Google Shape;272;p2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3" name="Google Shape;273;p27"/>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74" name="Google Shape;274;p27"/>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5" name="Google Shape;275;p27"/>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6" name="Google Shape;276;p27"/>
          <p:cNvSpPr txBox="1">
            <a:spLocks noGrp="1"/>
          </p:cNvSpPr>
          <p:nvPr>
            <p:ph type="body" idx="6"/>
          </p:nvPr>
        </p:nvSpPr>
        <p:spPr>
          <a:xfrm>
            <a:off x="35522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77" name="Google Shape;277;p27"/>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8" name="Google Shape;278;p27"/>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9" name="Google Shape;279;p27"/>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0" name="Google Shape;280;p27"/>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1" name="Google Shape;281;p27"/>
          <p:cNvSpPr txBox="1">
            <a:spLocks noGrp="1"/>
          </p:cNvSpPr>
          <p:nvPr>
            <p:ph type="subTitle" idx="14"/>
          </p:nvPr>
        </p:nvSpPr>
        <p:spPr>
          <a:xfrm>
            <a:off x="47455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2" name="Google Shape;282;p27"/>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3" name="Google Shape;283;p27"/>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4" name="Google Shape;284;p27"/>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5" name="Google Shape;285;p27"/>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6" name="Google Shape;286;p27"/>
          <p:cNvSpPr txBox="1">
            <a:spLocks noGrp="1"/>
          </p:cNvSpPr>
          <p:nvPr>
            <p:ph type="title" idx="19"/>
          </p:nvPr>
        </p:nvSpPr>
        <p:spPr>
          <a:xfrm>
            <a:off x="228600" y="613525"/>
            <a:ext cx="3904500" cy="8649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287" name="Google Shape;287;p2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ers">
  <p:cSld name="CUSTOM">
    <p:spTree>
      <p:nvGrpSpPr>
        <p:cNvPr id="1" name="Shape 289"/>
        <p:cNvGrpSpPr/>
        <p:nvPr/>
      </p:nvGrpSpPr>
      <p:grpSpPr>
        <a:xfrm>
          <a:off x="0" y="0"/>
          <a:ext cx="0" cy="0"/>
          <a:chOff x="0" y="0"/>
          <a:chExt cx="0" cy="0"/>
        </a:xfrm>
      </p:grpSpPr>
      <p:sp>
        <p:nvSpPr>
          <p:cNvPr id="290" name="Google Shape;290;p28"/>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cxnSp>
        <p:nvCxnSpPr>
          <p:cNvPr id="291" name="Google Shape;291;p28"/>
          <p:cNvCxnSpPr/>
          <p:nvPr/>
        </p:nvCxnSpPr>
        <p:spPr>
          <a:xfrm>
            <a:off x="228450" y="2061025"/>
            <a:ext cx="8687100" cy="0"/>
          </a:xfrm>
          <a:prstGeom prst="straightConnector1">
            <a:avLst/>
          </a:prstGeom>
          <a:noFill/>
          <a:ln w="9525" cap="flat" cmpd="sng">
            <a:solidFill>
              <a:schemeClr val="lt2"/>
            </a:solidFill>
            <a:prstDash val="solid"/>
            <a:round/>
            <a:headEnd type="none" w="med" len="med"/>
            <a:tailEnd type="none" w="med" len="med"/>
          </a:ln>
        </p:spPr>
      </p:cxnSp>
      <p:sp>
        <p:nvSpPr>
          <p:cNvPr id="292" name="Google Shape;292;p28"/>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3" name="Google Shape;293;p28"/>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4" name="Google Shape;294;p28"/>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95" name="Google Shape;295;p2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96" name="Google Shape;296;p28"/>
          <p:cNvSpPr txBox="1">
            <a:spLocks noGrp="1"/>
          </p:cNvSpPr>
          <p:nvPr>
            <p:ph type="title"/>
          </p:nvPr>
        </p:nvSpPr>
        <p:spPr>
          <a:xfrm>
            <a:off x="228600" y="369300"/>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97" name="Google Shape;297;p28"/>
          <p:cNvSpPr>
            <a:spLocks noGrp="1"/>
          </p:cNvSpPr>
          <p:nvPr>
            <p:ph type="pic" idx="5"/>
          </p:nvPr>
        </p:nvSpPr>
        <p:spPr>
          <a:xfrm>
            <a:off x="3795900" y="2682425"/>
            <a:ext cx="1458300" cy="1458300"/>
          </a:xfrm>
          <a:prstGeom prst="ellipse">
            <a:avLst/>
          </a:prstGeom>
          <a:noFill/>
          <a:ln w="9525" cap="flat" cmpd="sng">
            <a:solidFill>
              <a:schemeClr val="accent3"/>
            </a:solidFill>
            <a:prstDash val="solid"/>
            <a:round/>
            <a:headEnd type="none" w="sm" len="sm"/>
            <a:tailEnd type="none" w="sm" len="sm"/>
          </a:ln>
        </p:spPr>
      </p:sp>
      <p:sp>
        <p:nvSpPr>
          <p:cNvPr id="298" name="Google Shape;298;p28"/>
          <p:cNvSpPr txBox="1">
            <a:spLocks noGrp="1"/>
          </p:cNvSpPr>
          <p:nvPr>
            <p:ph type="body" idx="6"/>
          </p:nvPr>
        </p:nvSpPr>
        <p:spPr>
          <a:xfrm>
            <a:off x="5871500" y="2468775"/>
            <a:ext cx="2864700" cy="6765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dk2"/>
              </a:buClr>
              <a:buSzPts val="1000"/>
              <a:buFont typeface="Urbanist"/>
              <a:buChar char="●"/>
              <a:defRPr sz="1000">
                <a:solidFill>
                  <a:schemeClr val="dk2"/>
                </a:solidFill>
              </a:defRPr>
            </a:lvl1pPr>
            <a:lvl2pPr marL="914400" lvl="1" indent="-292100">
              <a:spcBef>
                <a:spcPts val="0"/>
              </a:spcBef>
              <a:spcAft>
                <a:spcPts val="0"/>
              </a:spcAft>
              <a:buClr>
                <a:schemeClr val="dk2"/>
              </a:buClr>
              <a:buSzPts val="1000"/>
              <a:buFont typeface="Urbanist"/>
              <a:buChar char="○"/>
              <a:defRPr sz="1000">
                <a:solidFill>
                  <a:schemeClr val="dk2"/>
                </a:solidFill>
              </a:defRPr>
            </a:lvl2pPr>
            <a:lvl3pPr marL="1371600" lvl="2" indent="-292100">
              <a:spcBef>
                <a:spcPts val="0"/>
              </a:spcBef>
              <a:spcAft>
                <a:spcPts val="0"/>
              </a:spcAft>
              <a:buClr>
                <a:schemeClr val="dk2"/>
              </a:buClr>
              <a:buSzPts val="1000"/>
              <a:buFont typeface="Urbanist"/>
              <a:buChar char="■"/>
              <a:defRPr sz="1000">
                <a:solidFill>
                  <a:schemeClr val="dk2"/>
                </a:solidFill>
              </a:defRPr>
            </a:lvl3pPr>
            <a:lvl4pPr marL="1828800" lvl="3" indent="-292100">
              <a:spcBef>
                <a:spcPts val="0"/>
              </a:spcBef>
              <a:spcAft>
                <a:spcPts val="0"/>
              </a:spcAft>
              <a:buClr>
                <a:schemeClr val="dk2"/>
              </a:buClr>
              <a:buSzPts val="1000"/>
              <a:buFont typeface="Urbanist"/>
              <a:buChar char="●"/>
              <a:defRPr sz="1000">
                <a:solidFill>
                  <a:schemeClr val="dk2"/>
                </a:solidFill>
              </a:defRPr>
            </a:lvl4pPr>
            <a:lvl5pPr marL="2286000" lvl="4" indent="-292100">
              <a:spcBef>
                <a:spcPts val="0"/>
              </a:spcBef>
              <a:spcAft>
                <a:spcPts val="0"/>
              </a:spcAft>
              <a:buClr>
                <a:schemeClr val="dk2"/>
              </a:buClr>
              <a:buSzPts val="1000"/>
              <a:buFont typeface="Urbanist"/>
              <a:buChar char="○"/>
              <a:defRPr sz="1000">
                <a:solidFill>
                  <a:schemeClr val="dk2"/>
                </a:solidFill>
              </a:defRPr>
            </a:lvl5pPr>
            <a:lvl6pPr marL="2743200" lvl="5" indent="-292100">
              <a:spcBef>
                <a:spcPts val="0"/>
              </a:spcBef>
              <a:spcAft>
                <a:spcPts val="0"/>
              </a:spcAft>
              <a:buClr>
                <a:schemeClr val="dk2"/>
              </a:buClr>
              <a:buSzPts val="1000"/>
              <a:buFont typeface="Urbanist"/>
              <a:buChar char="■"/>
              <a:defRPr sz="1000">
                <a:solidFill>
                  <a:schemeClr val="dk2"/>
                </a:solidFill>
              </a:defRPr>
            </a:lvl6pPr>
            <a:lvl7pPr marL="3200400" lvl="6" indent="-292100">
              <a:spcBef>
                <a:spcPts val="0"/>
              </a:spcBef>
              <a:spcAft>
                <a:spcPts val="0"/>
              </a:spcAft>
              <a:buClr>
                <a:schemeClr val="dk2"/>
              </a:buClr>
              <a:buSzPts val="1000"/>
              <a:buFont typeface="Urbanist"/>
              <a:buChar char="●"/>
              <a:defRPr sz="1000">
                <a:solidFill>
                  <a:schemeClr val="dk2"/>
                </a:solidFill>
              </a:defRPr>
            </a:lvl7pPr>
            <a:lvl8pPr marL="3657600" lvl="7" indent="-292100">
              <a:spcBef>
                <a:spcPts val="0"/>
              </a:spcBef>
              <a:spcAft>
                <a:spcPts val="0"/>
              </a:spcAft>
              <a:buClr>
                <a:schemeClr val="dk2"/>
              </a:buClr>
              <a:buSzPts val="1000"/>
              <a:buFont typeface="Urbanist"/>
              <a:buChar char="○"/>
              <a:defRPr sz="1000">
                <a:solidFill>
                  <a:schemeClr val="dk2"/>
                </a:solidFill>
              </a:defRPr>
            </a:lvl8pPr>
            <a:lvl9pPr marL="4114800" lvl="8" indent="-292100">
              <a:spcBef>
                <a:spcPts val="0"/>
              </a:spcBef>
              <a:spcAft>
                <a:spcPts val="0"/>
              </a:spcAft>
              <a:buClr>
                <a:schemeClr val="dk2"/>
              </a:buClr>
              <a:buSzPts val="1000"/>
              <a:buFont typeface="Urbanist"/>
              <a:buChar char="■"/>
              <a:defRPr sz="1000">
                <a:solidFill>
                  <a:schemeClr val="dk2"/>
                </a:solidFill>
              </a:defRPr>
            </a:lvl9pPr>
          </a:lstStyle>
          <a:p>
            <a:endParaRPr/>
          </a:p>
        </p:txBody>
      </p:sp>
      <p:sp>
        <p:nvSpPr>
          <p:cNvPr id="299" name="Google Shape;299;p28"/>
          <p:cNvSpPr txBox="1">
            <a:spLocks noGrp="1"/>
          </p:cNvSpPr>
          <p:nvPr>
            <p:ph type="body" idx="7"/>
          </p:nvPr>
        </p:nvSpPr>
        <p:spPr>
          <a:xfrm>
            <a:off x="5871500" y="3553025"/>
            <a:ext cx="2864700" cy="696000"/>
          </a:xfrm>
          <a:prstGeom prst="rect">
            <a:avLst/>
          </a:prstGeom>
        </p:spPr>
        <p:txBody>
          <a:bodyPr spcFirstLastPara="1" wrap="square" lIns="0" tIns="0" rIns="91425" bIns="91425" anchor="t" anchorCtr="0">
            <a:spAutoFit/>
          </a:bodyPr>
          <a:lstStyle>
            <a:lvl1pPr marL="457200" lvl="0" indent="-3048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marL="914400" lvl="1"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marL="1371600" lvl="2"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marL="1828800" lvl="3"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marL="2286000" lvl="4"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marL="2743200" lvl="5"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marL="3200400" lvl="6"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marL="3657600" lvl="7"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marL="4114800" lvl="8" indent="-30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a:endParaRPr/>
          </a:p>
        </p:txBody>
      </p:sp>
      <p:sp>
        <p:nvSpPr>
          <p:cNvPr id="300" name="Google Shape;300;p28"/>
          <p:cNvSpPr txBox="1">
            <a:spLocks noGrp="1"/>
          </p:cNvSpPr>
          <p:nvPr>
            <p:ph type="subTitle" idx="8"/>
          </p:nvPr>
        </p:nvSpPr>
        <p:spPr>
          <a:xfrm>
            <a:off x="238800" y="2720113"/>
            <a:ext cx="2824500" cy="145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a:endParaRPr/>
          </a:p>
        </p:txBody>
      </p:sp>
      <p:sp>
        <p:nvSpPr>
          <p:cNvPr id="301" name="Google Shape;301;p2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Graphics">
  <p:cSld name="CUSTOM_2">
    <p:spTree>
      <p:nvGrpSpPr>
        <p:cNvPr id="1" name="Shape 303"/>
        <p:cNvGrpSpPr/>
        <p:nvPr/>
      </p:nvGrpSpPr>
      <p:grpSpPr>
        <a:xfrm>
          <a:off x="0" y="0"/>
          <a:ext cx="0" cy="0"/>
          <a:chOff x="0" y="0"/>
          <a:chExt cx="0" cy="0"/>
        </a:xfrm>
      </p:grpSpPr>
      <p:sp>
        <p:nvSpPr>
          <p:cNvPr id="304" name="Google Shape;304;p2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5" name="Google Shape;305;p2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6" name="Google Shape;306;p2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07" name="Google Shape;307;p2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08" name="Google Shape;308;p29"/>
          <p:cNvSpPr/>
          <p:nvPr/>
        </p:nvSpPr>
        <p:spPr>
          <a:xfrm>
            <a:off x="228600" y="1395962"/>
            <a:ext cx="2101200" cy="3054000"/>
          </a:xfrm>
          <a:prstGeom prst="roundRect">
            <a:avLst>
              <a:gd name="adj" fmla="val 963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name="adj" fmla="val 674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name="adj" fmla="val 963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name="adj" fmla="val 1360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2" name="Google Shape;312;p29"/>
          <p:cNvSpPr>
            <a:spLocks noGrp="1"/>
          </p:cNvSpPr>
          <p:nvPr>
            <p:ph type="pic" idx="4"/>
          </p:nvPr>
        </p:nvSpPr>
        <p:spPr>
          <a:xfrm>
            <a:off x="381950" y="993050"/>
            <a:ext cx="850500" cy="850500"/>
          </a:xfrm>
          <a:prstGeom prst="ellipse">
            <a:avLst/>
          </a:prstGeom>
          <a:noFill/>
          <a:ln w="9525" cap="flat" cmpd="sng">
            <a:solidFill>
              <a:schemeClr val="accent3"/>
            </a:solidFill>
            <a:prstDash val="solid"/>
            <a:round/>
            <a:headEnd type="none" w="sm" len="sm"/>
            <a:tailEnd type="none" w="sm" len="sm"/>
          </a:ln>
        </p:spPr>
      </p:sp>
      <p:sp>
        <p:nvSpPr>
          <p:cNvPr id="313" name="Google Shape;313;p29"/>
          <p:cNvSpPr txBox="1">
            <a:spLocks noGrp="1"/>
          </p:cNvSpPr>
          <p:nvPr>
            <p:ph type="subTitle" idx="5"/>
          </p:nvPr>
        </p:nvSpPr>
        <p:spPr>
          <a:xfrm>
            <a:off x="381950" y="2062875"/>
            <a:ext cx="1786500" cy="236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Urbanist"/>
              <a:buNone/>
              <a:defRPr sz="1200" b="1">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a:endParaRPr/>
          </a:p>
        </p:txBody>
      </p:sp>
      <p:sp>
        <p:nvSpPr>
          <p:cNvPr id="314" name="Google Shape;314;p29"/>
          <p:cNvSpPr txBox="1">
            <a:spLocks noGrp="1"/>
          </p:cNvSpPr>
          <p:nvPr>
            <p:ph type="body" idx="6"/>
          </p:nvPr>
        </p:nvSpPr>
        <p:spPr>
          <a:xfrm>
            <a:off x="381950" y="2453500"/>
            <a:ext cx="1786500" cy="1536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Urbanist"/>
              <a:buChar char="●"/>
              <a:defRPr sz="1000">
                <a:solidFill>
                  <a:schemeClr val="dk1"/>
                </a:solidFill>
              </a:defRPr>
            </a:lvl1pPr>
            <a:lvl2pPr marL="914400" lvl="1" indent="-292100">
              <a:spcBef>
                <a:spcPts val="0"/>
              </a:spcBef>
              <a:spcAft>
                <a:spcPts val="0"/>
              </a:spcAft>
              <a:buClr>
                <a:schemeClr val="dk1"/>
              </a:buClr>
              <a:buSzPts val="1000"/>
              <a:buFont typeface="Urbanist"/>
              <a:buChar char="○"/>
              <a:defRPr sz="1000">
                <a:solidFill>
                  <a:schemeClr val="dk1"/>
                </a:solidFill>
              </a:defRPr>
            </a:lvl2pPr>
            <a:lvl3pPr marL="1371600" lvl="2" indent="-292100">
              <a:spcBef>
                <a:spcPts val="0"/>
              </a:spcBef>
              <a:spcAft>
                <a:spcPts val="0"/>
              </a:spcAft>
              <a:buClr>
                <a:schemeClr val="dk1"/>
              </a:buClr>
              <a:buSzPts val="1000"/>
              <a:buFont typeface="Urbanist"/>
              <a:buChar char="■"/>
              <a:defRPr sz="1000">
                <a:solidFill>
                  <a:schemeClr val="dk1"/>
                </a:solidFill>
              </a:defRPr>
            </a:lvl3pPr>
            <a:lvl4pPr marL="1828800" lvl="3" indent="-292100">
              <a:spcBef>
                <a:spcPts val="0"/>
              </a:spcBef>
              <a:spcAft>
                <a:spcPts val="0"/>
              </a:spcAft>
              <a:buClr>
                <a:schemeClr val="dk1"/>
              </a:buClr>
              <a:buSzPts val="1000"/>
              <a:buFont typeface="Urbanist"/>
              <a:buChar char="●"/>
              <a:defRPr sz="1000">
                <a:solidFill>
                  <a:schemeClr val="dk1"/>
                </a:solidFill>
              </a:defRPr>
            </a:lvl4pPr>
            <a:lvl5pPr marL="2286000" lvl="4" indent="-292100">
              <a:spcBef>
                <a:spcPts val="0"/>
              </a:spcBef>
              <a:spcAft>
                <a:spcPts val="0"/>
              </a:spcAft>
              <a:buClr>
                <a:schemeClr val="dk1"/>
              </a:buClr>
              <a:buSzPts val="1000"/>
              <a:buFont typeface="Urbanist"/>
              <a:buChar char="○"/>
              <a:defRPr sz="1000">
                <a:solidFill>
                  <a:schemeClr val="dk1"/>
                </a:solidFill>
              </a:defRPr>
            </a:lvl5pPr>
            <a:lvl6pPr marL="2743200" lvl="5" indent="-292100">
              <a:spcBef>
                <a:spcPts val="0"/>
              </a:spcBef>
              <a:spcAft>
                <a:spcPts val="0"/>
              </a:spcAft>
              <a:buClr>
                <a:schemeClr val="dk1"/>
              </a:buClr>
              <a:buSzPts val="1000"/>
              <a:buFont typeface="Urbanist"/>
              <a:buChar char="■"/>
              <a:defRPr sz="1000">
                <a:solidFill>
                  <a:schemeClr val="dk1"/>
                </a:solidFill>
              </a:defRPr>
            </a:lvl6pPr>
            <a:lvl7pPr marL="3200400" lvl="6" indent="-292100">
              <a:spcBef>
                <a:spcPts val="0"/>
              </a:spcBef>
              <a:spcAft>
                <a:spcPts val="0"/>
              </a:spcAft>
              <a:buClr>
                <a:schemeClr val="dk1"/>
              </a:buClr>
              <a:buSzPts val="1000"/>
              <a:buFont typeface="Urbanist"/>
              <a:buChar char="●"/>
              <a:defRPr sz="1000">
                <a:solidFill>
                  <a:schemeClr val="dk1"/>
                </a:solidFill>
              </a:defRPr>
            </a:lvl7pPr>
            <a:lvl8pPr marL="3657600" lvl="7" indent="-292100">
              <a:spcBef>
                <a:spcPts val="0"/>
              </a:spcBef>
              <a:spcAft>
                <a:spcPts val="0"/>
              </a:spcAft>
              <a:buClr>
                <a:schemeClr val="dk1"/>
              </a:buClr>
              <a:buSzPts val="1000"/>
              <a:buFont typeface="Urbanist"/>
              <a:buChar char="○"/>
              <a:defRPr sz="1000">
                <a:solidFill>
                  <a:schemeClr val="dk1"/>
                </a:solidFill>
              </a:defRPr>
            </a:lvl8pPr>
            <a:lvl9pPr marL="4114800" lvl="8" indent="-292100">
              <a:spcBef>
                <a:spcPts val="0"/>
              </a:spcBef>
              <a:spcAft>
                <a:spcPts val="0"/>
              </a:spcAft>
              <a:buClr>
                <a:schemeClr val="dk1"/>
              </a:buClr>
              <a:buSzPts val="1000"/>
              <a:buFont typeface="Urbanist"/>
              <a:buChar char="■"/>
              <a:defRPr sz="1000">
                <a:solidFill>
                  <a:schemeClr val="dk1"/>
                </a:solidFill>
              </a:defRPr>
            </a:lvl9pPr>
          </a:lstStyle>
          <a:p>
            <a:endParaRPr/>
          </a:p>
        </p:txBody>
      </p:sp>
      <p:sp>
        <p:nvSpPr>
          <p:cNvPr id="315" name="Google Shape;315;p29"/>
          <p:cNvSpPr txBox="1">
            <a:spLocks noGrp="1"/>
          </p:cNvSpPr>
          <p:nvPr>
            <p:ph type="subTitle" idx="7"/>
          </p:nvPr>
        </p:nvSpPr>
        <p:spPr>
          <a:xfrm>
            <a:off x="2580250" y="1528150"/>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16" name="Google Shape;316;p29"/>
          <p:cNvSpPr txBox="1">
            <a:spLocks noGrp="1"/>
          </p:cNvSpPr>
          <p:nvPr>
            <p:ph type="body" idx="8"/>
          </p:nvPr>
        </p:nvSpPr>
        <p:spPr>
          <a:xfrm>
            <a:off x="2580250" y="1791652"/>
            <a:ext cx="2911500" cy="6105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cxnSp>
        <p:nvCxnSpPr>
          <p:cNvPr id="317" name="Google Shape;317;p29"/>
          <p:cNvCxnSpPr/>
          <p:nvPr/>
        </p:nvCxnSpPr>
        <p:spPr>
          <a:xfrm>
            <a:off x="2423700" y="2531312"/>
            <a:ext cx="3194400" cy="0"/>
          </a:xfrm>
          <a:prstGeom prst="straightConnector1">
            <a:avLst/>
          </a:prstGeom>
          <a:noFill/>
          <a:ln w="9525" cap="flat" cmpd="sng">
            <a:solidFill>
              <a:schemeClr val="dk1"/>
            </a:solidFill>
            <a:prstDash val="solid"/>
            <a:round/>
            <a:headEnd type="none" w="med" len="med"/>
            <a:tailEnd type="none" w="med" len="med"/>
          </a:ln>
        </p:spPr>
      </p:cxnSp>
      <p:cxnSp>
        <p:nvCxnSpPr>
          <p:cNvPr id="318" name="Google Shape;318;p29"/>
          <p:cNvCxnSpPr/>
          <p:nvPr/>
        </p:nvCxnSpPr>
        <p:spPr>
          <a:xfrm>
            <a:off x="2423700" y="3583537"/>
            <a:ext cx="3194400" cy="0"/>
          </a:xfrm>
          <a:prstGeom prst="straightConnector1">
            <a:avLst/>
          </a:prstGeom>
          <a:noFill/>
          <a:ln w="9525" cap="flat" cmpd="sng">
            <a:solidFill>
              <a:schemeClr val="dk1"/>
            </a:solidFill>
            <a:prstDash val="solid"/>
            <a:round/>
            <a:headEnd type="none" w="med" len="med"/>
            <a:tailEnd type="none" w="med" len="med"/>
          </a:ln>
        </p:spPr>
      </p:cxnSp>
      <p:sp>
        <p:nvSpPr>
          <p:cNvPr id="319" name="Google Shape;319;p29"/>
          <p:cNvSpPr txBox="1">
            <a:spLocks noGrp="1"/>
          </p:cNvSpPr>
          <p:nvPr>
            <p:ph type="subTitle" idx="9"/>
          </p:nvPr>
        </p:nvSpPr>
        <p:spPr>
          <a:xfrm>
            <a:off x="2580250" y="26604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0" name="Google Shape;320;p29"/>
          <p:cNvSpPr txBox="1">
            <a:spLocks noGrp="1"/>
          </p:cNvSpPr>
          <p:nvPr>
            <p:ph type="body" idx="13"/>
          </p:nvPr>
        </p:nvSpPr>
        <p:spPr>
          <a:xfrm>
            <a:off x="2580250" y="2931046"/>
            <a:ext cx="2911500" cy="6105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21" name="Google Shape;321;p29"/>
          <p:cNvSpPr/>
          <p:nvPr/>
        </p:nvSpPr>
        <p:spPr>
          <a:xfrm flipH="1">
            <a:off x="2600988"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4" name="Google Shape;324;p29"/>
          <p:cNvSpPr txBox="1">
            <a:spLocks noGrp="1"/>
          </p:cNvSpPr>
          <p:nvPr>
            <p:ph type="subTitle" idx="14"/>
          </p:nvPr>
        </p:nvSpPr>
        <p:spPr>
          <a:xfrm>
            <a:off x="2567250" y="36718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5" name="Google Shape;325;p29"/>
          <p:cNvSpPr txBox="1">
            <a:spLocks noGrp="1"/>
          </p:cNvSpPr>
          <p:nvPr>
            <p:ph type="subTitle" idx="15"/>
          </p:nvPr>
        </p:nvSpPr>
        <p:spPr>
          <a:xfrm>
            <a:off x="5877425" y="15281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26" name="Google Shape;326;p29"/>
          <p:cNvSpPr txBox="1">
            <a:spLocks noGrp="1"/>
          </p:cNvSpPr>
          <p:nvPr>
            <p:ph type="subTitle" idx="16"/>
          </p:nvPr>
        </p:nvSpPr>
        <p:spPr>
          <a:xfrm>
            <a:off x="5877425" y="178110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7" name="Google Shape;327;p29"/>
          <p:cNvSpPr txBox="1">
            <a:spLocks noGrp="1"/>
          </p:cNvSpPr>
          <p:nvPr>
            <p:ph type="subTitle" idx="17"/>
          </p:nvPr>
        </p:nvSpPr>
        <p:spPr>
          <a:xfrm>
            <a:off x="5877425" y="22191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8" name="Google Shape;328;p29"/>
          <p:cNvSpPr txBox="1">
            <a:spLocks noGrp="1"/>
          </p:cNvSpPr>
          <p:nvPr>
            <p:ph type="subTitle" idx="18"/>
          </p:nvPr>
        </p:nvSpPr>
        <p:spPr>
          <a:xfrm>
            <a:off x="5877425" y="26572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9" name="Google Shape;329;p29"/>
          <p:cNvSpPr txBox="1">
            <a:spLocks noGrp="1"/>
          </p:cNvSpPr>
          <p:nvPr>
            <p:ph type="subTitle" idx="19"/>
          </p:nvPr>
        </p:nvSpPr>
        <p:spPr>
          <a:xfrm>
            <a:off x="5877425" y="335493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30" name="Google Shape;330;p29"/>
          <p:cNvSpPr txBox="1">
            <a:spLocks noGrp="1"/>
          </p:cNvSpPr>
          <p:nvPr>
            <p:ph type="subTitle" idx="20"/>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331" name="Google Shape;331;p2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ilestones">
  <p:cSld name="CUSTOM_4">
    <p:spTree>
      <p:nvGrpSpPr>
        <p:cNvPr id="1" name="Shape 333"/>
        <p:cNvGrpSpPr/>
        <p:nvPr/>
      </p:nvGrpSpPr>
      <p:grpSpPr>
        <a:xfrm>
          <a:off x="0" y="0"/>
          <a:ext cx="0" cy="0"/>
          <a:chOff x="0" y="0"/>
          <a:chExt cx="0" cy="0"/>
        </a:xfrm>
      </p:grpSpPr>
      <p:sp>
        <p:nvSpPr>
          <p:cNvPr id="334" name="Google Shape;334;p30"/>
          <p:cNvSpPr txBox="1">
            <a:spLocks noGrp="1"/>
          </p:cNvSpPr>
          <p:nvPr>
            <p:ph type="body" idx="1"/>
          </p:nvPr>
        </p:nvSpPr>
        <p:spPr>
          <a:xfrm>
            <a:off x="2054000" y="2952175"/>
            <a:ext cx="1377600" cy="9378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335" name="Google Shape;335;p30"/>
          <p:cNvSpPr txBox="1">
            <a:spLocks noGrp="1"/>
          </p:cNvSpPr>
          <p:nvPr>
            <p:ph type="body" idx="2"/>
          </p:nvPr>
        </p:nvSpPr>
        <p:spPr>
          <a:xfrm>
            <a:off x="2461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6" name="Google Shape;336;p30"/>
          <p:cNvSpPr txBox="1">
            <a:spLocks noGrp="1"/>
          </p:cNvSpPr>
          <p:nvPr>
            <p:ph type="subTitle" idx="3"/>
          </p:nvPr>
        </p:nvSpPr>
        <p:spPr>
          <a:xfrm>
            <a:off x="382995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37" name="Google Shape;337;p30"/>
          <p:cNvSpPr txBox="1">
            <a:spLocks noGrp="1"/>
          </p:cNvSpPr>
          <p:nvPr>
            <p:ph type="body" idx="4"/>
          </p:nvPr>
        </p:nvSpPr>
        <p:spPr>
          <a:xfrm>
            <a:off x="3848250" y="2952163"/>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8" name="Google Shape;338;p30"/>
          <p:cNvSpPr txBox="1">
            <a:spLocks noGrp="1"/>
          </p:cNvSpPr>
          <p:nvPr>
            <p:ph type="subTitle" idx="5"/>
          </p:nvPr>
        </p:nvSpPr>
        <p:spPr>
          <a:xfrm>
            <a:off x="20774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39" name="Google Shape;339;p30"/>
          <p:cNvSpPr txBox="1">
            <a:spLocks noGrp="1"/>
          </p:cNvSpPr>
          <p:nvPr>
            <p:ph type="body" idx="6"/>
          </p:nvPr>
        </p:nvSpPr>
        <p:spPr>
          <a:xfrm>
            <a:off x="5634175"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40" name="Google Shape;340;p30"/>
          <p:cNvSpPr txBox="1">
            <a:spLocks noGrp="1"/>
          </p:cNvSpPr>
          <p:nvPr>
            <p:ph type="subTitle" idx="7"/>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1" name="Google Shape;341;p30"/>
          <p:cNvSpPr txBox="1">
            <a:spLocks noGrp="1"/>
          </p:cNvSpPr>
          <p:nvPr>
            <p:ph type="subTitle" idx="8"/>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2" name="Google Shape;342;p30"/>
          <p:cNvSpPr txBox="1">
            <a:spLocks noGrp="1"/>
          </p:cNvSpPr>
          <p:nvPr>
            <p:ph type="subTitle" idx="9"/>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43" name="Google Shape;343;p3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44" name="Google Shape;344;p30"/>
          <p:cNvSpPr txBox="1">
            <a:spLocks noGrp="1"/>
          </p:cNvSpPr>
          <p:nvPr>
            <p:ph type="title"/>
          </p:nvPr>
        </p:nvSpPr>
        <p:spPr>
          <a:xfrm>
            <a:off x="228600" y="613525"/>
            <a:ext cx="6841500" cy="7530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345" name="Google Shape;345;p30"/>
          <p:cNvSpPr txBox="1">
            <a:spLocks noGrp="1"/>
          </p:cNvSpPr>
          <p:nvPr>
            <p:ph type="subTitle" idx="13"/>
          </p:nvPr>
        </p:nvSpPr>
        <p:spPr>
          <a:xfrm>
            <a:off x="2775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6" name="Google Shape;346;p30"/>
          <p:cNvSpPr txBox="1">
            <a:spLocks noGrp="1"/>
          </p:cNvSpPr>
          <p:nvPr>
            <p:ph type="subTitle" idx="14"/>
          </p:nvPr>
        </p:nvSpPr>
        <p:spPr>
          <a:xfrm>
            <a:off x="38773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47" name="Google Shape;347;p30"/>
          <p:cNvSpPr txBox="1">
            <a:spLocks noGrp="1"/>
          </p:cNvSpPr>
          <p:nvPr>
            <p:ph type="subTitle" idx="15"/>
          </p:nvPr>
        </p:nvSpPr>
        <p:spPr>
          <a:xfrm>
            <a:off x="56772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8" name="Google Shape;348;p30"/>
          <p:cNvSpPr txBox="1">
            <a:spLocks noGrp="1"/>
          </p:cNvSpPr>
          <p:nvPr>
            <p:ph type="subTitle" idx="16"/>
          </p:nvPr>
        </p:nvSpPr>
        <p:spPr>
          <a:xfrm>
            <a:off x="74771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9" name="Google Shape;349;p30"/>
          <p:cNvSpPr txBox="1">
            <a:spLocks noGrp="1"/>
          </p:cNvSpPr>
          <p:nvPr>
            <p:ph type="subTitle" idx="17"/>
          </p:nvPr>
        </p:nvSpPr>
        <p:spPr>
          <a:xfrm>
            <a:off x="23880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200"/>
              <a:buFont typeface="Urbanist"/>
              <a:buNone/>
              <a:defRPr sz="1200" b="1">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30"/>
          <p:cNvSpPr txBox="1">
            <a:spLocks noGrp="1"/>
          </p:cNvSpPr>
          <p:nvPr>
            <p:ph type="subTitle" idx="18"/>
          </p:nvPr>
        </p:nvSpPr>
        <p:spPr>
          <a:xfrm>
            <a:off x="2034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1" name="Google Shape;351;p30"/>
          <p:cNvSpPr txBox="1">
            <a:spLocks noGrp="1"/>
          </p:cNvSpPr>
          <p:nvPr>
            <p:ph type="subTitle" idx="19"/>
          </p:nvPr>
        </p:nvSpPr>
        <p:spPr>
          <a:xfrm>
            <a:off x="5645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2" name="Google Shape;352;p30"/>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3" name="Google Shape;353;p30"/>
          <p:cNvSpPr txBox="1">
            <a:spLocks noGrp="1"/>
          </p:cNvSpPr>
          <p:nvPr>
            <p:ph type="subTitle" idx="21"/>
          </p:nvPr>
        </p:nvSpPr>
        <p:spPr>
          <a:xfrm>
            <a:off x="372900" y="202945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sp>
        <p:nvSpPr>
          <p:cNvPr id="354" name="Google Shape;354;p30"/>
          <p:cNvSpPr txBox="1">
            <a:spLocks noGrp="1"/>
          </p:cNvSpPr>
          <p:nvPr>
            <p:ph type="subTitle" idx="22"/>
          </p:nvPr>
        </p:nvSpPr>
        <p:spPr>
          <a:xfrm>
            <a:off x="2178663"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5" name="Google Shape;355;p30"/>
          <p:cNvSpPr txBox="1">
            <a:spLocks noGrp="1"/>
          </p:cNvSpPr>
          <p:nvPr>
            <p:ph type="subTitle" idx="23"/>
          </p:nvPr>
        </p:nvSpPr>
        <p:spPr>
          <a:xfrm>
            <a:off x="3974250"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6" name="Google Shape;356;p30"/>
          <p:cNvSpPr txBox="1">
            <a:spLocks noGrp="1"/>
          </p:cNvSpPr>
          <p:nvPr>
            <p:ph type="subTitle" idx="24"/>
          </p:nvPr>
        </p:nvSpPr>
        <p:spPr>
          <a:xfrm>
            <a:off x="5789675"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7" name="Google Shape;357;p30"/>
          <p:cNvSpPr txBox="1">
            <a:spLocks noGrp="1"/>
          </p:cNvSpPr>
          <p:nvPr>
            <p:ph type="subTitle" idx="25"/>
          </p:nvPr>
        </p:nvSpPr>
        <p:spPr>
          <a:xfrm>
            <a:off x="7605089"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8" name="Google Shape;358;p30"/>
          <p:cNvSpPr txBox="1">
            <a:spLocks noGrp="1"/>
          </p:cNvSpPr>
          <p:nvPr>
            <p:ph type="body" idx="26"/>
          </p:nvPr>
        </p:nvSpPr>
        <p:spPr>
          <a:xfrm>
            <a:off x="74503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59" name="Google Shape;359;p3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etrics ">
  <p:cSld name="CUSTOM_5">
    <p:spTree>
      <p:nvGrpSpPr>
        <p:cNvPr id="1" name="Shape 361"/>
        <p:cNvGrpSpPr/>
        <p:nvPr/>
      </p:nvGrpSpPr>
      <p:grpSpPr>
        <a:xfrm>
          <a:off x="0" y="0"/>
          <a:ext cx="0" cy="0"/>
          <a:chOff x="0" y="0"/>
          <a:chExt cx="0" cy="0"/>
        </a:xfrm>
      </p:grpSpPr>
      <p:sp>
        <p:nvSpPr>
          <p:cNvPr id="362" name="Google Shape;362;p31"/>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3" name="Google Shape;363;p31"/>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4" name="Google Shape;364;p31"/>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65" name="Google Shape;365;p3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66" name="Google Shape;366;p3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8" name="Google Shape;368;p31"/>
          <p:cNvSpPr txBox="1">
            <a:spLocks noGrp="1"/>
          </p:cNvSpPr>
          <p:nvPr>
            <p:ph type="subTitle" idx="4"/>
          </p:nvPr>
        </p:nvSpPr>
        <p:spPr>
          <a:xfrm>
            <a:off x="6314800" y="458325"/>
            <a:ext cx="229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31"/>
          <p:cNvSpPr txBox="1">
            <a:spLocks noGrp="1"/>
          </p:cNvSpPr>
          <p:nvPr>
            <p:ph type="title"/>
          </p:nvPr>
        </p:nvSpPr>
        <p:spPr>
          <a:xfrm>
            <a:off x="237650" y="746900"/>
            <a:ext cx="2834700" cy="25908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0" name="Google Shape;370;p31"/>
          <p:cNvSpPr txBox="1">
            <a:spLocks noGrp="1"/>
          </p:cNvSpPr>
          <p:nvPr>
            <p:ph type="subTitle" idx="5"/>
          </p:nvPr>
        </p:nvSpPr>
        <p:spPr>
          <a:xfrm>
            <a:off x="229175" y="229175"/>
            <a:ext cx="283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71" name="Google Shape;371;p31"/>
          <p:cNvSpPr txBox="1">
            <a:spLocks noGrp="1"/>
          </p:cNvSpPr>
          <p:nvPr>
            <p:ph type="subTitle" idx="6"/>
          </p:nvPr>
        </p:nvSpPr>
        <p:spPr>
          <a:xfrm>
            <a:off x="3437500" y="882725"/>
            <a:ext cx="22947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2" name="Google Shape;372;p31"/>
          <p:cNvSpPr txBox="1">
            <a:spLocks noGrp="1"/>
          </p:cNvSpPr>
          <p:nvPr>
            <p:ph type="title" idx="7"/>
          </p:nvPr>
        </p:nvSpPr>
        <p:spPr>
          <a:xfrm>
            <a:off x="3611850" y="1848195"/>
            <a:ext cx="1924200" cy="594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a:endParaRPr/>
          </a:p>
        </p:txBody>
      </p:sp>
      <p:sp>
        <p:nvSpPr>
          <p:cNvPr id="373" name="Google Shape;373;p31"/>
          <p:cNvSpPr txBox="1">
            <a:spLocks noGrp="1"/>
          </p:cNvSpPr>
          <p:nvPr>
            <p:ph type="title" idx="8"/>
          </p:nvPr>
        </p:nvSpPr>
        <p:spPr>
          <a:xfrm>
            <a:off x="3611850" y="3250202"/>
            <a:ext cx="1920300" cy="59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4" name="Google Shape;374;p31"/>
          <p:cNvSpPr txBox="1">
            <a:spLocks noGrp="1"/>
          </p:cNvSpPr>
          <p:nvPr>
            <p:ph type="subTitle" idx="9"/>
          </p:nvPr>
        </p:nvSpPr>
        <p:spPr>
          <a:xfrm>
            <a:off x="3611850" y="2707575"/>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5" name="Google Shape;375;p31"/>
          <p:cNvSpPr txBox="1">
            <a:spLocks noGrp="1"/>
          </p:cNvSpPr>
          <p:nvPr>
            <p:ph type="subTitle" idx="13"/>
          </p:nvPr>
        </p:nvSpPr>
        <p:spPr>
          <a:xfrm>
            <a:off x="3611850" y="4076800"/>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6" name="Google Shape;376;p31"/>
          <p:cNvSpPr txBox="1">
            <a:spLocks noGrp="1"/>
          </p:cNvSpPr>
          <p:nvPr>
            <p:ph type="subTitle" idx="14"/>
          </p:nvPr>
        </p:nvSpPr>
        <p:spPr>
          <a:xfrm>
            <a:off x="6258900" y="3267725"/>
            <a:ext cx="24783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7" name="Google Shape;377;p31"/>
          <p:cNvSpPr txBox="1">
            <a:spLocks noGrp="1"/>
          </p:cNvSpPr>
          <p:nvPr>
            <p:ph type="subTitle" idx="15"/>
          </p:nvPr>
        </p:nvSpPr>
        <p:spPr>
          <a:xfrm>
            <a:off x="6258900" y="3955225"/>
            <a:ext cx="2478300" cy="3300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8"/>
        <p:cNvGrpSpPr/>
        <p:nvPr/>
      </p:nvGrpSpPr>
      <p:grpSpPr>
        <a:xfrm>
          <a:off x="0" y="0"/>
          <a:ext cx="0" cy="0"/>
          <a:chOff x="0" y="0"/>
          <a:chExt cx="0" cy="0"/>
        </a:xfrm>
      </p:grpSpPr>
      <p:sp>
        <p:nvSpPr>
          <p:cNvPr id="379" name="Google Shape;379;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0" name="Google Shape;380;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81"/>
        <p:cNvGrpSpPr/>
        <p:nvPr/>
      </p:nvGrpSpPr>
      <p:grpSpPr>
        <a:xfrm>
          <a:off x="0" y="0"/>
          <a:ext cx="0" cy="0"/>
          <a:chOff x="0" y="0"/>
          <a:chExt cx="0" cy="0"/>
        </a:xfrm>
      </p:grpSpPr>
      <p:sp>
        <p:nvSpPr>
          <p:cNvPr id="382" name="Google Shape;38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83"/>
        <p:cNvGrpSpPr/>
        <p:nvPr/>
      </p:nvGrpSpPr>
      <p:grpSpPr>
        <a:xfrm>
          <a:off x="0" y="0"/>
          <a:ext cx="0" cy="0"/>
          <a:chOff x="0" y="0"/>
          <a:chExt cx="0" cy="0"/>
        </a:xfrm>
      </p:grpSpPr>
      <p:sp>
        <p:nvSpPr>
          <p:cNvPr id="384" name="Google Shape;3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5" name="Google Shape;38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86"/>
        <p:cNvGrpSpPr/>
        <p:nvPr/>
      </p:nvGrpSpPr>
      <p:grpSpPr>
        <a:xfrm>
          <a:off x="0" y="0"/>
          <a:ext cx="0" cy="0"/>
          <a:chOff x="0" y="0"/>
          <a:chExt cx="0" cy="0"/>
        </a:xfrm>
      </p:grpSpPr>
      <p:sp>
        <p:nvSpPr>
          <p:cNvPr id="387" name="Google Shape;3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8" name="Google Shape;388;p3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9" name="Google Shape;389;p3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2"/>
        <p:cNvGrpSpPr/>
        <p:nvPr/>
      </p:nvGrpSpPr>
      <p:grpSpPr>
        <a:xfrm>
          <a:off x="0" y="0"/>
          <a:ext cx="0" cy="0"/>
          <a:chOff x="0" y="0"/>
          <a:chExt cx="0" cy="0"/>
        </a:xfrm>
      </p:grpSpPr>
      <p:sp>
        <p:nvSpPr>
          <p:cNvPr id="393" name="Google Shape;393;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4" name="Google Shape;394;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7"/>
        <p:cNvGrpSpPr/>
        <p:nvPr/>
      </p:nvGrpSpPr>
      <p:grpSpPr>
        <a:xfrm>
          <a:off x="0" y="0"/>
          <a:ext cx="0" cy="0"/>
          <a:chOff x="0" y="0"/>
          <a:chExt cx="0" cy="0"/>
        </a:xfrm>
      </p:grpSpPr>
      <p:sp>
        <p:nvSpPr>
          <p:cNvPr id="398" name="Google Shape;398;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9" name="Google Shape;399;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00" name="Google Shape;400;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01"/>
        <p:cNvGrpSpPr/>
        <p:nvPr/>
      </p:nvGrpSpPr>
      <p:grpSpPr>
        <a:xfrm>
          <a:off x="0" y="0"/>
          <a:ext cx="0" cy="0"/>
          <a:chOff x="0" y="0"/>
          <a:chExt cx="0" cy="0"/>
        </a:xfrm>
      </p:grpSpPr>
      <p:sp>
        <p:nvSpPr>
          <p:cNvPr id="402" name="Google Shape;402;p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03"/>
        <p:cNvGrpSpPr/>
        <p:nvPr/>
      </p:nvGrpSpPr>
      <p:grpSpPr>
        <a:xfrm>
          <a:off x="0" y="0"/>
          <a:ext cx="0" cy="0"/>
          <a:chOff x="0" y="0"/>
          <a:chExt cx="0" cy="0"/>
        </a:xfrm>
      </p:grpSpPr>
      <p:sp>
        <p:nvSpPr>
          <p:cNvPr id="404" name="Google Shape;404;p4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07"/>
        <p:cNvGrpSpPr/>
        <p:nvPr/>
      </p:nvGrpSpPr>
      <p:grpSpPr>
        <a:xfrm>
          <a:off x="0" y="0"/>
          <a:ext cx="0" cy="0"/>
          <a:chOff x="0" y="0"/>
          <a:chExt cx="0" cy="0"/>
        </a:xfrm>
      </p:grpSpPr>
      <p:sp>
        <p:nvSpPr>
          <p:cNvPr id="408" name="Google Shape;408;p4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9" name="Google Shape;409;p4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0" name="Google Shape;410;p4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1" name="Google Shape;411;p4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2" name="Google Shape;412;p4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3" name="Google Shape;413;p4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4" name="Google Shape;414;p4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415"/>
        <p:cNvGrpSpPr/>
        <p:nvPr/>
      </p:nvGrpSpPr>
      <p:grpSpPr>
        <a:xfrm>
          <a:off x="0" y="0"/>
          <a:ext cx="0" cy="0"/>
          <a:chOff x="0" y="0"/>
          <a:chExt cx="0" cy="0"/>
        </a:xfrm>
      </p:grpSpPr>
      <p:sp>
        <p:nvSpPr>
          <p:cNvPr id="416" name="Google Shape;41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7" name="Google Shape;417;p4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18" name="Google Shape;418;p4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419"/>
        <p:cNvGrpSpPr/>
        <p:nvPr/>
      </p:nvGrpSpPr>
      <p:grpSpPr>
        <a:xfrm>
          <a:off x="0" y="0"/>
          <a:ext cx="0" cy="0"/>
          <a:chOff x="0" y="0"/>
          <a:chExt cx="0" cy="0"/>
        </a:xfrm>
      </p:grpSpPr>
      <p:sp>
        <p:nvSpPr>
          <p:cNvPr id="420" name="Google Shape;420;p4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1" name="Google Shape;421;p4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2" name="Google Shape;422;p4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3" name="Google Shape;423;p4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24" name="Google Shape;424;p4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425"/>
        <p:cNvGrpSpPr/>
        <p:nvPr/>
      </p:nvGrpSpPr>
      <p:grpSpPr>
        <a:xfrm>
          <a:off x="0" y="0"/>
          <a:ext cx="0" cy="0"/>
          <a:chOff x="0" y="0"/>
          <a:chExt cx="0" cy="0"/>
        </a:xfrm>
      </p:grpSpPr>
      <p:sp>
        <p:nvSpPr>
          <p:cNvPr id="426" name="Google Shape;426;p4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7" name="Google Shape;427;p4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8" name="Google Shape;428;p4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9" name="Google Shape;429;p4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0" name="Google Shape;430;p4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1" name="Google Shape;431;p4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2" name="Google Shape;432;p4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433"/>
        <p:cNvGrpSpPr/>
        <p:nvPr/>
      </p:nvGrpSpPr>
      <p:grpSpPr>
        <a:xfrm>
          <a:off x="0" y="0"/>
          <a:ext cx="0" cy="0"/>
          <a:chOff x="0" y="0"/>
          <a:chExt cx="0" cy="0"/>
        </a:xfrm>
      </p:grpSpPr>
      <p:sp>
        <p:nvSpPr>
          <p:cNvPr id="434" name="Google Shape;434;p4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35" name="Google Shape;435;p4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6" name="Google Shape;436;p4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7" name="Google Shape;437;p4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8" name="Google Shape;438;p4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9" name="Google Shape;439;p4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0" name="Google Shape;440;p4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1" name="Google Shape;441;p4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2" name="Google Shape;442;p4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45" name="Google Shape;445;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46"/>
        <p:cNvGrpSpPr/>
        <p:nvPr/>
      </p:nvGrpSpPr>
      <p:grpSpPr>
        <a:xfrm>
          <a:off x="0" y="0"/>
          <a:ext cx="0" cy="0"/>
          <a:chOff x="0" y="0"/>
          <a:chExt cx="0" cy="0"/>
        </a:xfrm>
      </p:grpSpPr>
      <p:sp>
        <p:nvSpPr>
          <p:cNvPr id="447" name="Google Shape;447;p4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48" name="Google Shape;448;p49"/>
          <p:cNvSpPr>
            <a:spLocks noGrp="1"/>
          </p:cNvSpPr>
          <p:nvPr>
            <p:ph type="pic" idx="2"/>
          </p:nvPr>
        </p:nvSpPr>
        <p:spPr>
          <a:xfrm>
            <a:off x="4804825" y="1133300"/>
            <a:ext cx="4027500" cy="2392800"/>
          </a:xfrm>
          <a:prstGeom prst="rect">
            <a:avLst/>
          </a:prstGeom>
          <a:noFill/>
          <a:ln>
            <a:noFill/>
          </a:ln>
        </p:spPr>
      </p:sp>
      <p:sp>
        <p:nvSpPr>
          <p:cNvPr id="449" name="Google Shape;449;p49"/>
          <p:cNvSpPr>
            <a:spLocks noGrp="1"/>
          </p:cNvSpPr>
          <p:nvPr>
            <p:ph type="pic" idx="3"/>
          </p:nvPr>
        </p:nvSpPr>
        <p:spPr>
          <a:xfrm>
            <a:off x="311725" y="1133300"/>
            <a:ext cx="4027500" cy="2392800"/>
          </a:xfrm>
          <a:prstGeom prst="rect">
            <a:avLst/>
          </a:prstGeom>
          <a:noFill/>
          <a:ln>
            <a:noFill/>
          </a:ln>
        </p:spPr>
      </p:sp>
      <p:sp>
        <p:nvSpPr>
          <p:cNvPr id="450" name="Google Shape;450;p4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1" name="Google Shape;451;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2" name="Google Shape;452;p4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53" name="Google Shape;453;p4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54"/>
        <p:cNvGrpSpPr/>
        <p:nvPr/>
      </p:nvGrpSpPr>
      <p:grpSpPr>
        <a:xfrm>
          <a:off x="0" y="0"/>
          <a:ext cx="0" cy="0"/>
          <a:chOff x="0" y="0"/>
          <a:chExt cx="0" cy="0"/>
        </a:xfrm>
      </p:grpSpPr>
      <p:sp>
        <p:nvSpPr>
          <p:cNvPr id="455" name="Google Shape;455;p5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6" name="Google Shape;456;p50"/>
          <p:cNvSpPr>
            <a:spLocks noGrp="1"/>
          </p:cNvSpPr>
          <p:nvPr>
            <p:ph type="pic" idx="2"/>
          </p:nvPr>
        </p:nvSpPr>
        <p:spPr>
          <a:xfrm>
            <a:off x="6205225" y="1128325"/>
            <a:ext cx="2627100" cy="2273100"/>
          </a:xfrm>
          <a:prstGeom prst="rect">
            <a:avLst/>
          </a:prstGeom>
          <a:noFill/>
          <a:ln>
            <a:noFill/>
          </a:ln>
        </p:spPr>
      </p:sp>
      <p:sp>
        <p:nvSpPr>
          <p:cNvPr id="457" name="Google Shape;457;p50"/>
          <p:cNvSpPr>
            <a:spLocks noGrp="1"/>
          </p:cNvSpPr>
          <p:nvPr>
            <p:ph type="pic" idx="3"/>
          </p:nvPr>
        </p:nvSpPr>
        <p:spPr>
          <a:xfrm>
            <a:off x="311725" y="1128325"/>
            <a:ext cx="2627100" cy="2273100"/>
          </a:xfrm>
          <a:prstGeom prst="rect">
            <a:avLst/>
          </a:prstGeom>
          <a:noFill/>
          <a:ln>
            <a:noFill/>
          </a:ln>
        </p:spPr>
      </p:sp>
      <p:sp>
        <p:nvSpPr>
          <p:cNvPr id="458" name="Google Shape;458;p5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9" name="Google Shape;459;p50"/>
          <p:cNvSpPr>
            <a:spLocks noGrp="1"/>
          </p:cNvSpPr>
          <p:nvPr>
            <p:ph type="pic" idx="5"/>
          </p:nvPr>
        </p:nvSpPr>
        <p:spPr>
          <a:xfrm>
            <a:off x="3255250" y="1128325"/>
            <a:ext cx="2627100" cy="2273100"/>
          </a:xfrm>
          <a:prstGeom prst="rect">
            <a:avLst/>
          </a:prstGeom>
          <a:noFill/>
          <a:ln>
            <a:noFill/>
          </a:ln>
        </p:spPr>
      </p:sp>
      <p:sp>
        <p:nvSpPr>
          <p:cNvPr id="460" name="Google Shape;460;p5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1" name="Google Shape;46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2" name="Google Shape;462;p5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3" name="Google Shape;463;p5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4" name="Google Shape;464;p5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65"/>
        <p:cNvGrpSpPr/>
        <p:nvPr/>
      </p:nvGrpSpPr>
      <p:grpSpPr>
        <a:xfrm>
          <a:off x="0" y="0"/>
          <a:ext cx="0" cy="0"/>
          <a:chOff x="0" y="0"/>
          <a:chExt cx="0" cy="0"/>
        </a:xfrm>
      </p:grpSpPr>
      <p:sp>
        <p:nvSpPr>
          <p:cNvPr id="466" name="Google Shape;466;p5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67"/>
        <p:cNvGrpSpPr/>
        <p:nvPr/>
      </p:nvGrpSpPr>
      <p:grpSpPr>
        <a:xfrm>
          <a:off x="0" y="0"/>
          <a:ext cx="0" cy="0"/>
          <a:chOff x="0" y="0"/>
          <a:chExt cx="0" cy="0"/>
        </a:xfrm>
      </p:grpSpPr>
      <p:sp>
        <p:nvSpPr>
          <p:cNvPr id="468" name="Google Shape;468;p52"/>
          <p:cNvSpPr>
            <a:spLocks noGrp="1"/>
          </p:cNvSpPr>
          <p:nvPr>
            <p:ph type="pic" idx="2"/>
          </p:nvPr>
        </p:nvSpPr>
        <p:spPr>
          <a:xfrm>
            <a:off x="3389600" y="118913"/>
            <a:ext cx="1643700" cy="1535100"/>
          </a:xfrm>
          <a:prstGeom prst="rect">
            <a:avLst/>
          </a:prstGeom>
          <a:noFill/>
          <a:ln>
            <a:noFill/>
          </a:ln>
        </p:spPr>
      </p:sp>
      <p:sp>
        <p:nvSpPr>
          <p:cNvPr id="469" name="Google Shape;469;p52"/>
          <p:cNvSpPr>
            <a:spLocks noGrp="1"/>
          </p:cNvSpPr>
          <p:nvPr>
            <p:ph type="pic" idx="3"/>
          </p:nvPr>
        </p:nvSpPr>
        <p:spPr>
          <a:xfrm>
            <a:off x="5195935" y="118913"/>
            <a:ext cx="1643700" cy="1535100"/>
          </a:xfrm>
          <a:prstGeom prst="rect">
            <a:avLst/>
          </a:prstGeom>
          <a:noFill/>
          <a:ln>
            <a:noFill/>
          </a:ln>
        </p:spPr>
      </p:sp>
      <p:sp>
        <p:nvSpPr>
          <p:cNvPr id="470" name="Google Shape;470;p52"/>
          <p:cNvSpPr>
            <a:spLocks noGrp="1"/>
          </p:cNvSpPr>
          <p:nvPr>
            <p:ph type="pic" idx="4"/>
          </p:nvPr>
        </p:nvSpPr>
        <p:spPr>
          <a:xfrm>
            <a:off x="7002270" y="118913"/>
            <a:ext cx="1643700" cy="1535100"/>
          </a:xfrm>
          <a:prstGeom prst="rect">
            <a:avLst/>
          </a:prstGeom>
          <a:noFill/>
          <a:ln>
            <a:noFill/>
          </a:ln>
        </p:spPr>
      </p:sp>
      <p:sp>
        <p:nvSpPr>
          <p:cNvPr id="471" name="Google Shape;471;p52"/>
          <p:cNvSpPr>
            <a:spLocks noGrp="1"/>
          </p:cNvSpPr>
          <p:nvPr>
            <p:ph type="pic" idx="5"/>
          </p:nvPr>
        </p:nvSpPr>
        <p:spPr>
          <a:xfrm>
            <a:off x="3389588" y="1804212"/>
            <a:ext cx="1643700" cy="1535100"/>
          </a:xfrm>
          <a:prstGeom prst="rect">
            <a:avLst/>
          </a:prstGeom>
          <a:noFill/>
          <a:ln>
            <a:noFill/>
          </a:ln>
        </p:spPr>
      </p:sp>
      <p:sp>
        <p:nvSpPr>
          <p:cNvPr id="472" name="Google Shape;472;p52"/>
          <p:cNvSpPr>
            <a:spLocks noGrp="1"/>
          </p:cNvSpPr>
          <p:nvPr>
            <p:ph type="pic" idx="6"/>
          </p:nvPr>
        </p:nvSpPr>
        <p:spPr>
          <a:xfrm>
            <a:off x="5195922" y="1804212"/>
            <a:ext cx="1643700" cy="1535100"/>
          </a:xfrm>
          <a:prstGeom prst="rect">
            <a:avLst/>
          </a:prstGeom>
          <a:noFill/>
          <a:ln>
            <a:noFill/>
          </a:ln>
        </p:spPr>
      </p:sp>
      <p:sp>
        <p:nvSpPr>
          <p:cNvPr id="473" name="Google Shape;473;p52"/>
          <p:cNvSpPr>
            <a:spLocks noGrp="1"/>
          </p:cNvSpPr>
          <p:nvPr>
            <p:ph type="pic" idx="7"/>
          </p:nvPr>
        </p:nvSpPr>
        <p:spPr>
          <a:xfrm>
            <a:off x="7002257" y="1804212"/>
            <a:ext cx="1643700" cy="1535100"/>
          </a:xfrm>
          <a:prstGeom prst="rect">
            <a:avLst/>
          </a:prstGeom>
          <a:noFill/>
          <a:ln>
            <a:noFill/>
          </a:ln>
        </p:spPr>
      </p:sp>
      <p:sp>
        <p:nvSpPr>
          <p:cNvPr id="474" name="Google Shape;474;p5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75" name="Google Shape;475;p52"/>
          <p:cNvSpPr>
            <a:spLocks noGrp="1"/>
          </p:cNvSpPr>
          <p:nvPr>
            <p:ph type="pic" idx="8"/>
          </p:nvPr>
        </p:nvSpPr>
        <p:spPr>
          <a:xfrm>
            <a:off x="3389588" y="3489487"/>
            <a:ext cx="1643700" cy="1535100"/>
          </a:xfrm>
          <a:prstGeom prst="rect">
            <a:avLst/>
          </a:prstGeom>
          <a:noFill/>
          <a:ln>
            <a:noFill/>
          </a:ln>
        </p:spPr>
      </p:sp>
      <p:sp>
        <p:nvSpPr>
          <p:cNvPr id="476" name="Google Shape;476;p52"/>
          <p:cNvSpPr>
            <a:spLocks noGrp="1"/>
          </p:cNvSpPr>
          <p:nvPr>
            <p:ph type="pic" idx="9"/>
          </p:nvPr>
        </p:nvSpPr>
        <p:spPr>
          <a:xfrm>
            <a:off x="5195922" y="3489487"/>
            <a:ext cx="1643700" cy="1535100"/>
          </a:xfrm>
          <a:prstGeom prst="rect">
            <a:avLst/>
          </a:prstGeom>
          <a:noFill/>
          <a:ln>
            <a:noFill/>
          </a:ln>
        </p:spPr>
      </p:sp>
      <p:sp>
        <p:nvSpPr>
          <p:cNvPr id="477" name="Google Shape;477;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
        <p:nvSpPr>
          <p:cNvPr id="52" name="Google Shape;52;p13"/>
          <p:cNvSpPr txBox="1">
            <a:spLocks noGrp="1"/>
          </p:cNvSpPr>
          <p:nvPr>
            <p:ph type="title"/>
          </p:nvPr>
        </p:nvSpPr>
        <p:spPr>
          <a:xfrm>
            <a:off x="228600" y="85200"/>
            <a:ext cx="5236500" cy="109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a:endParaRPr/>
          </a:p>
        </p:txBody>
      </p:sp>
      <p:sp>
        <p:nvSpPr>
          <p:cNvPr id="53" name="Google Shape;53;p13"/>
          <p:cNvSpPr txBox="1">
            <a:spLocks noGrp="1"/>
          </p:cNvSpPr>
          <p:nvPr>
            <p:ph type="body" idx="2"/>
          </p:nvPr>
        </p:nvSpPr>
        <p:spPr>
          <a:xfrm>
            <a:off x="4562525" y="1518250"/>
            <a:ext cx="3880800" cy="27654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5.xml"/><Relationship Id="rId5" Type="http://schemas.openxmlformats.org/officeDocument/2006/relationships/image" Target="../media/image8.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3"/>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None/>
            </a:pPr>
            <a:r>
              <a:rPr lang="en">
                <a:solidFill>
                  <a:schemeClr val="lt1"/>
                </a:solidFill>
              </a:rPr>
              <a:t>Partnership Proposal Presentation</a:t>
            </a:r>
            <a:endParaRPr>
              <a:solidFill>
                <a:schemeClr val="lt1"/>
              </a:solidFill>
            </a:endParaRPr>
          </a:p>
        </p:txBody>
      </p:sp>
      <p:sp>
        <p:nvSpPr>
          <p:cNvPr id="483" name="Google Shape;483;p53"/>
          <p:cNvSpPr txBox="1">
            <a:spLocks noGrp="1"/>
          </p:cNvSpPr>
          <p:nvPr>
            <p:ph type="subTitle" idx="1"/>
          </p:nvPr>
        </p:nvSpPr>
        <p:spPr>
          <a:xfrm>
            <a:off x="228600" y="1738950"/>
            <a:ext cx="4402800" cy="2520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lvl="0" indent="0" algn="l" rtl="0">
              <a:lnSpc>
                <a:spcPct val="85000"/>
              </a:lnSpc>
              <a:spcBef>
                <a:spcPts val="0"/>
              </a:spcBef>
              <a:spcAft>
                <a:spcPts val="0"/>
              </a:spcAft>
              <a:buNone/>
            </a:pPr>
            <a:r>
              <a:rPr lang="en" sz="1900">
                <a:solidFill>
                  <a:schemeClr val="lt1"/>
                </a:solidFill>
                <a:latin typeface="Urbanist Medium"/>
                <a:ea typeface="Urbanist Medium"/>
                <a:cs typeface="Urbanist Medium"/>
                <a:sym typeface="Urbanist Medium"/>
              </a:rPr>
              <a:t>NMBC Moving Solutions</a:t>
            </a:r>
            <a:endParaRPr sz="1900">
              <a:solidFill>
                <a:schemeClr val="lt1"/>
              </a:solidFill>
              <a:latin typeface="Urbanist Medium"/>
              <a:ea typeface="Urbanist Medium"/>
              <a:cs typeface="Urbanist Medium"/>
              <a:sym typeface="Urbanist Medium"/>
            </a:endParaRPr>
          </a:p>
        </p:txBody>
      </p:sp>
      <p:sp>
        <p:nvSpPr>
          <p:cNvPr id="484" name="Google Shape;484;p53"/>
          <p:cNvSpPr txBox="1">
            <a:spLocks noGrp="1"/>
          </p:cNvSpPr>
          <p:nvPr>
            <p:ph type="subTitle" idx="5"/>
          </p:nvPr>
        </p:nvSpPr>
        <p:spPr>
          <a:xfrm>
            <a:off x="297075" y="4175900"/>
            <a:ext cx="1264800" cy="3387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5" name="Google Shape;485;p53"/>
          <p:cNvSpPr txBox="1">
            <a:spLocks noGrp="1"/>
          </p:cNvSpPr>
          <p:nvPr>
            <p:ph type="subTitle" idx="8"/>
          </p:nvPr>
        </p:nvSpPr>
        <p:spPr>
          <a:xfrm>
            <a:off x="228600" y="3243900"/>
            <a:ext cx="4659600" cy="751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800"/>
              <a:t>Presented by: Team 10</a:t>
            </a:r>
            <a:endParaRPr sz="1800"/>
          </a:p>
        </p:txBody>
      </p:sp>
      <p:sp>
        <p:nvSpPr>
          <p:cNvPr id="486" name="Google Shape;486;p53"/>
          <p:cNvSpPr/>
          <p:nvPr/>
        </p:nvSpPr>
        <p:spPr>
          <a:xfrm>
            <a:off x="297075" y="3806825"/>
            <a:ext cx="4023900" cy="876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Urbanist"/>
                <a:ea typeface="Urbanist"/>
                <a:cs typeface="Urbanist"/>
                <a:sym typeface="Urbanist"/>
              </a:rPr>
              <a:t>Young Roh, William Wang, Kaitlyn Persaud, Adam Fik</a:t>
            </a:r>
            <a:endParaRPr>
              <a:solidFill>
                <a:schemeClr val="lt1"/>
              </a:solidFill>
              <a:latin typeface="Urbanist"/>
              <a:ea typeface="Urbanist"/>
              <a:cs typeface="Urbanist"/>
              <a:sym typeface="Urbani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4"/>
          <p:cNvSpPr txBox="1">
            <a:spLocks noGrp="1"/>
          </p:cNvSpPr>
          <p:nvPr>
            <p:ph type="body" idx="1"/>
          </p:nvPr>
        </p:nvSpPr>
        <p:spPr>
          <a:xfrm>
            <a:off x="950100" y="1944900"/>
            <a:ext cx="3814500" cy="946500"/>
          </a:xfrm>
          <a:prstGeom prst="rect">
            <a:avLst/>
          </a:prstGeom>
        </p:spPr>
        <p:txBody>
          <a:bodyPr spcFirstLastPara="1" wrap="square" lIns="91425" tIns="91425" rIns="91425" bIns="91425" anchor="t" anchorCtr="0">
            <a:spAutoFit/>
          </a:bodyPr>
          <a:lstStyle/>
          <a:p>
            <a:pPr marL="0" lvl="0" indent="0" algn="l" rtl="0">
              <a:spcBef>
                <a:spcPts val="0"/>
              </a:spcBef>
              <a:spcAft>
                <a:spcPts val="800"/>
              </a:spcAft>
              <a:buNone/>
            </a:pPr>
            <a:r>
              <a:rPr lang="en" sz="1500"/>
              <a:t>Moving company specializing in local and interstate moves for homes, apartments, offices, and universities.</a:t>
            </a:r>
            <a:endParaRPr sz="1500"/>
          </a:p>
        </p:txBody>
      </p:sp>
      <p:sp>
        <p:nvSpPr>
          <p:cNvPr id="492" name="Google Shape;492;p54"/>
          <p:cNvSpPr txBox="1">
            <a:spLocks noGrp="1"/>
          </p:cNvSpPr>
          <p:nvPr>
            <p:ph type="body" idx="2"/>
          </p:nvPr>
        </p:nvSpPr>
        <p:spPr>
          <a:xfrm>
            <a:off x="950100" y="3491925"/>
            <a:ext cx="2455500" cy="77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a:t>Address</a:t>
            </a:r>
            <a:r>
              <a:rPr lang="en" sz="1500"/>
              <a:t>: 454 Morris Ave, Springfield, NJ 07081</a:t>
            </a:r>
            <a:endParaRPr sz="1500"/>
          </a:p>
          <a:p>
            <a:pPr marL="0" lvl="0" indent="0" algn="l" rtl="0">
              <a:spcBef>
                <a:spcPts val="0"/>
              </a:spcBef>
              <a:spcAft>
                <a:spcPts val="0"/>
              </a:spcAft>
              <a:buNone/>
            </a:pPr>
            <a:r>
              <a:rPr lang="en" sz="1500" b="1"/>
              <a:t>Phone</a:t>
            </a:r>
            <a:r>
              <a:rPr lang="en" sz="1500"/>
              <a:t>: (551) 220-6750</a:t>
            </a:r>
            <a:endParaRPr sz="1500"/>
          </a:p>
          <a:p>
            <a:pPr marL="0" lvl="0" indent="0" algn="l" rtl="0">
              <a:spcBef>
                <a:spcPts val="0"/>
              </a:spcBef>
              <a:spcAft>
                <a:spcPts val="0"/>
              </a:spcAft>
              <a:buNone/>
            </a:pPr>
            <a:endParaRPr sz="1500"/>
          </a:p>
        </p:txBody>
      </p:sp>
      <p:sp>
        <p:nvSpPr>
          <p:cNvPr id="493" name="Google Shape;493;p54"/>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Urbanist"/>
                <a:ea typeface="Urbanist"/>
                <a:cs typeface="Urbanist"/>
                <a:sym typeface="Urbanist"/>
              </a:rPr>
              <a:t>NMBC Moving Solutions</a:t>
            </a:r>
            <a:endParaRPr b="1">
              <a:latin typeface="Urbanist"/>
              <a:ea typeface="Urbanist"/>
              <a:cs typeface="Urbanist"/>
              <a:sym typeface="Urbanist"/>
            </a:endParaRPr>
          </a:p>
        </p:txBody>
      </p:sp>
      <p:sp>
        <p:nvSpPr>
          <p:cNvPr id="494" name="Google Shape;494;p54"/>
          <p:cNvSpPr txBox="1">
            <a:spLocks noGrp="1"/>
          </p:cNvSpPr>
          <p:nvPr>
            <p:ph type="subTitle" idx="3"/>
          </p:nvPr>
        </p:nvSpPr>
        <p:spPr>
          <a:xfrm>
            <a:off x="950100" y="1412250"/>
            <a:ext cx="3814500" cy="77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b="1"/>
              <a:t>What is the company?</a:t>
            </a:r>
            <a:endParaRPr sz="2300" b="1"/>
          </a:p>
        </p:txBody>
      </p:sp>
      <p:sp>
        <p:nvSpPr>
          <p:cNvPr id="495" name="Google Shape;495;p54"/>
          <p:cNvSpPr txBox="1">
            <a:spLocks noGrp="1"/>
          </p:cNvSpPr>
          <p:nvPr>
            <p:ph type="subTitle" idx="4"/>
          </p:nvPr>
        </p:nvSpPr>
        <p:spPr>
          <a:xfrm>
            <a:off x="904375" y="2948550"/>
            <a:ext cx="3393300" cy="77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b="1"/>
              <a:t>Contact Information:</a:t>
            </a:r>
            <a:endParaRPr sz="2300" b="1"/>
          </a:p>
        </p:txBody>
      </p:sp>
      <p:pic>
        <p:nvPicPr>
          <p:cNvPr id="496" name="Google Shape;496;p54"/>
          <p:cNvPicPr preferRelativeResize="0"/>
          <p:nvPr/>
        </p:nvPicPr>
        <p:blipFill rotWithShape="1">
          <a:blip r:embed="rId3">
            <a:alphaModFix/>
          </a:blip>
          <a:srcRect l="13932" r="26422"/>
          <a:stretch/>
        </p:blipFill>
        <p:spPr>
          <a:xfrm>
            <a:off x="5273888" y="1538625"/>
            <a:ext cx="2892424" cy="2731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55" descr="A luminous galaxy in space. "/>
          <p:cNvPicPr preferRelativeResize="0"/>
          <p:nvPr/>
        </p:nvPicPr>
        <p:blipFill rotWithShape="1">
          <a:blip r:embed="rId3">
            <a:alphaModFix amt="50000"/>
          </a:blip>
          <a:srcRect t="6839" b="1960"/>
          <a:stretch/>
        </p:blipFill>
        <p:spPr>
          <a:xfrm>
            <a:off x="0" y="-3250"/>
            <a:ext cx="9144003" cy="4686976"/>
          </a:xfrm>
          <a:prstGeom prst="rect">
            <a:avLst/>
          </a:prstGeom>
          <a:noFill/>
          <a:ln>
            <a:noFill/>
          </a:ln>
        </p:spPr>
      </p:pic>
      <p:sp>
        <p:nvSpPr>
          <p:cNvPr id="502" name="Google Shape;502;p55"/>
          <p:cNvSpPr txBox="1">
            <a:spLocks noGrp="1"/>
          </p:cNvSpPr>
          <p:nvPr>
            <p:ph type="title"/>
          </p:nvPr>
        </p:nvSpPr>
        <p:spPr>
          <a:xfrm>
            <a:off x="314250" y="130050"/>
            <a:ext cx="8666700" cy="654300"/>
          </a:xfrm>
          <a:prstGeom prst="rect">
            <a:avLst/>
          </a:prstGeom>
        </p:spPr>
        <p:txBody>
          <a:bodyPr spcFirstLastPara="1" wrap="square" lIns="0" tIns="0" rIns="0" bIns="0" anchor="b" anchorCtr="0">
            <a:noAutofit/>
          </a:bodyPr>
          <a:lstStyle/>
          <a:p>
            <a:pPr marL="0" lvl="0" indent="0" algn="l" rtl="0">
              <a:lnSpc>
                <a:spcPct val="85000"/>
              </a:lnSpc>
              <a:spcBef>
                <a:spcPts val="0"/>
              </a:spcBef>
              <a:spcAft>
                <a:spcPts val="0"/>
              </a:spcAft>
              <a:buNone/>
            </a:pPr>
            <a:r>
              <a:rPr lang="en">
                <a:solidFill>
                  <a:schemeClr val="dk2"/>
                </a:solidFill>
              </a:rPr>
              <a:t>Background Information &amp; Secondary Data </a:t>
            </a:r>
            <a:endParaRPr>
              <a:solidFill>
                <a:schemeClr val="accent3"/>
              </a:solidFill>
            </a:endParaRPr>
          </a:p>
        </p:txBody>
      </p:sp>
      <p:sp>
        <p:nvSpPr>
          <p:cNvPr id="503" name="Google Shape;503;p55"/>
          <p:cNvSpPr txBox="1"/>
          <p:nvPr/>
        </p:nvSpPr>
        <p:spPr>
          <a:xfrm>
            <a:off x="51900" y="989525"/>
            <a:ext cx="4743600" cy="33246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NMBC Moving Solutions is a </a:t>
            </a:r>
            <a:r>
              <a:rPr lang="en" sz="1200" b="1">
                <a:solidFill>
                  <a:schemeClr val="lt1"/>
                </a:solidFill>
                <a:latin typeface="Urbanist"/>
                <a:ea typeface="Urbanist"/>
                <a:cs typeface="Urbanist"/>
                <a:sym typeface="Urbanist"/>
              </a:rPr>
              <a:t>3 year old</a:t>
            </a:r>
            <a:r>
              <a:rPr lang="en" sz="1200">
                <a:solidFill>
                  <a:schemeClr val="lt1"/>
                </a:solidFill>
                <a:latin typeface="Urbanist"/>
                <a:ea typeface="Urbanist"/>
                <a:cs typeface="Urbanist"/>
                <a:sym typeface="Urbanist"/>
              </a:rPr>
              <a:t> moving company founded by 4 former college roommates who all played soccer together. </a:t>
            </a:r>
            <a:endParaRPr sz="1200">
              <a:solidFill>
                <a:schemeClr val="lt1"/>
              </a:solidFill>
              <a:latin typeface="Urbanist"/>
              <a:ea typeface="Urbanist"/>
              <a:cs typeface="Urbanist"/>
              <a:sym typeface="Urbanist"/>
            </a:endParaRPr>
          </a:p>
          <a:p>
            <a:pPr marL="457200" lvl="0" indent="0" algn="l" rtl="0">
              <a:spcBef>
                <a:spcPts val="0"/>
              </a:spcBef>
              <a:spcAft>
                <a:spcPts val="0"/>
              </a:spcAft>
              <a:buNone/>
            </a:pP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b="1" u="sng">
                <a:solidFill>
                  <a:schemeClr val="lt1"/>
                </a:solidFill>
                <a:latin typeface="Urbanist"/>
                <a:ea typeface="Urbanist"/>
                <a:cs typeface="Urbanist"/>
                <a:sym typeface="Urbanist"/>
              </a:rPr>
              <a:t>Mission: </a:t>
            </a:r>
            <a:r>
              <a:rPr lang="en" sz="1200">
                <a:solidFill>
                  <a:schemeClr val="lt1"/>
                </a:solidFill>
                <a:latin typeface="Urbanist"/>
                <a:ea typeface="Urbanist"/>
                <a:cs typeface="Urbanist"/>
                <a:sym typeface="Urbanist"/>
              </a:rPr>
              <a:t>NMBC specializes in small and residential moves throughout New Jersey. Their goal is to provide efficient and stress-free moving services. </a:t>
            </a:r>
            <a:endParaRPr sz="1200">
              <a:solidFill>
                <a:schemeClr val="lt1"/>
              </a:solidFill>
              <a:latin typeface="Urbanist"/>
              <a:ea typeface="Urbanist"/>
              <a:cs typeface="Urbanist"/>
              <a:sym typeface="Urbanist"/>
            </a:endParaRPr>
          </a:p>
          <a:p>
            <a:pPr marL="457200" lvl="0" indent="0" algn="l" rtl="0">
              <a:spcBef>
                <a:spcPts val="0"/>
              </a:spcBef>
              <a:spcAft>
                <a:spcPts val="0"/>
              </a:spcAft>
              <a:buNone/>
            </a:pP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b="1" u="sng">
                <a:solidFill>
                  <a:schemeClr val="lt1"/>
                </a:solidFill>
                <a:latin typeface="Urbanist"/>
                <a:ea typeface="Urbanist"/>
                <a:cs typeface="Urbanist"/>
                <a:sym typeface="Urbanist"/>
              </a:rPr>
              <a:t>Competition: </a:t>
            </a:r>
            <a:r>
              <a:rPr lang="en" sz="1200">
                <a:solidFill>
                  <a:schemeClr val="lt1"/>
                </a:solidFill>
                <a:latin typeface="Urbanist"/>
                <a:ea typeface="Urbanist"/>
                <a:cs typeface="Urbanist"/>
                <a:sym typeface="Urbanist"/>
              </a:rPr>
              <a:t>Since the company is relatively new to the moving industry and working mainly in Central Jersey, its competitors are mostly local with some being Piece of Cake Moving and Chatham Moving.</a:t>
            </a:r>
            <a:endParaRPr sz="1200">
              <a:solidFill>
                <a:schemeClr val="lt1"/>
              </a:solidFill>
              <a:latin typeface="Urbanist"/>
              <a:ea typeface="Urbanist"/>
              <a:cs typeface="Urbanist"/>
              <a:sym typeface="Urbanist"/>
            </a:endParaRPr>
          </a:p>
          <a:p>
            <a:pPr marL="457200" lvl="0" indent="0" algn="l" rtl="0">
              <a:spcBef>
                <a:spcPts val="0"/>
              </a:spcBef>
              <a:spcAft>
                <a:spcPts val="0"/>
              </a:spcAft>
              <a:buNone/>
            </a:pP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b="1" u="sng">
                <a:solidFill>
                  <a:schemeClr val="lt1"/>
                </a:solidFill>
                <a:latin typeface="Urbanist"/>
                <a:ea typeface="Urbanist"/>
                <a:cs typeface="Urbanist"/>
                <a:sym typeface="Urbanist"/>
              </a:rPr>
              <a:t>Size &amp; Demographics: </a:t>
            </a:r>
            <a:r>
              <a:rPr lang="en" sz="1200">
                <a:solidFill>
                  <a:schemeClr val="lt1"/>
                </a:solidFill>
                <a:latin typeface="Urbanist"/>
                <a:ea typeface="Urbanist"/>
                <a:cs typeface="Urbanist"/>
                <a:sym typeface="Urbanist"/>
              </a:rPr>
              <a:t>The company consists of 16 employees who are all men aged between </a:t>
            </a:r>
            <a:r>
              <a:rPr lang="en" sz="1200" b="1">
                <a:solidFill>
                  <a:schemeClr val="lt1"/>
                </a:solidFill>
                <a:latin typeface="Urbanist"/>
                <a:ea typeface="Urbanist"/>
                <a:cs typeface="Urbanist"/>
                <a:sym typeface="Urbanist"/>
              </a:rPr>
              <a:t>21-28 years old</a:t>
            </a:r>
            <a:r>
              <a:rPr lang="en" sz="1200">
                <a:solidFill>
                  <a:schemeClr val="lt1"/>
                </a:solidFill>
                <a:latin typeface="Urbanist"/>
                <a:ea typeface="Urbanist"/>
                <a:cs typeface="Urbanist"/>
                <a:sym typeface="Urbanist"/>
              </a:rPr>
              <a:t>. Most of the workers are made up of White males, with the minority identifying as Black and Hispanic. </a:t>
            </a:r>
            <a:endParaRPr sz="1200">
              <a:solidFill>
                <a:schemeClr val="lt1"/>
              </a:solidFill>
              <a:latin typeface="Urbanist"/>
              <a:ea typeface="Urbanist"/>
              <a:cs typeface="Urbanist"/>
              <a:sym typeface="Urbanist"/>
            </a:endParaRPr>
          </a:p>
        </p:txBody>
      </p:sp>
      <p:pic>
        <p:nvPicPr>
          <p:cNvPr id="504" name="Google Shape;504;p55"/>
          <p:cNvPicPr preferRelativeResize="0"/>
          <p:nvPr/>
        </p:nvPicPr>
        <p:blipFill>
          <a:blip r:embed="rId4">
            <a:alphaModFix/>
          </a:blip>
          <a:stretch>
            <a:fillRect/>
          </a:stretch>
        </p:blipFill>
        <p:spPr>
          <a:xfrm>
            <a:off x="4834200" y="1508175"/>
            <a:ext cx="4146749" cy="2539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56"/>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Qualitative Interviews</a:t>
            </a:r>
            <a:endParaRPr>
              <a:solidFill>
                <a:schemeClr val="accent3"/>
              </a:solidFill>
            </a:endParaRPr>
          </a:p>
        </p:txBody>
      </p:sp>
      <p:sp>
        <p:nvSpPr>
          <p:cNvPr id="510" name="Google Shape;510;p56"/>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3"/>
                </a:solidFill>
              </a:rPr>
              <a:t>Secondary Data Research</a:t>
            </a:r>
            <a:endParaRPr>
              <a:solidFill>
                <a:schemeClr val="accent3"/>
              </a:solidFill>
            </a:endParaRPr>
          </a:p>
        </p:txBody>
      </p:sp>
      <p:sp>
        <p:nvSpPr>
          <p:cNvPr id="511" name="Google Shape;511;p5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Collection Methods</a:t>
            </a:r>
            <a:endParaRPr/>
          </a:p>
        </p:txBody>
      </p:sp>
      <p:sp>
        <p:nvSpPr>
          <p:cNvPr id="512" name="Google Shape;512;p56"/>
          <p:cNvSpPr txBox="1">
            <a:spLocks noGrp="1"/>
          </p:cNvSpPr>
          <p:nvPr>
            <p:ph type="body" idx="1"/>
          </p:nvPr>
        </p:nvSpPr>
        <p:spPr>
          <a:xfrm>
            <a:off x="483150" y="2071593"/>
            <a:ext cx="3619800" cy="27060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a:t>Preliminary Interview</a:t>
            </a:r>
            <a:endParaRPr/>
          </a:p>
          <a:p>
            <a:pPr marL="914400" lvl="1" indent="-304800" algn="l" rtl="0">
              <a:spcBef>
                <a:spcPts val="0"/>
              </a:spcBef>
              <a:spcAft>
                <a:spcPts val="0"/>
              </a:spcAft>
              <a:buSzPts val="1200"/>
              <a:buChar char="○"/>
            </a:pPr>
            <a:r>
              <a:rPr lang="en"/>
              <a:t>Nick Halpin (COO)</a:t>
            </a:r>
            <a:endParaRPr/>
          </a:p>
          <a:p>
            <a:pPr marL="914400" lvl="1" indent="-304800" algn="l" rtl="0">
              <a:spcBef>
                <a:spcPts val="0"/>
              </a:spcBef>
              <a:spcAft>
                <a:spcPts val="0"/>
              </a:spcAft>
              <a:buSzPts val="1200"/>
              <a:buChar char="○"/>
            </a:pPr>
            <a:r>
              <a:rPr lang="en"/>
              <a:t>Allowed us to get initial information on the company (history, staff structure, etc) and identify leads on problems</a:t>
            </a:r>
            <a:endParaRPr/>
          </a:p>
          <a:p>
            <a:pPr marL="457200" lvl="0" indent="-304800" algn="l" rtl="0">
              <a:spcBef>
                <a:spcPts val="0"/>
              </a:spcBef>
              <a:spcAft>
                <a:spcPts val="0"/>
              </a:spcAft>
              <a:buSzPts val="1200"/>
              <a:buChar char="●"/>
            </a:pPr>
            <a:r>
              <a:rPr lang="en"/>
              <a:t>Secondary Interviews</a:t>
            </a:r>
            <a:endParaRPr/>
          </a:p>
          <a:p>
            <a:pPr marL="914400" lvl="1" indent="-304800" algn="l" rtl="0">
              <a:spcBef>
                <a:spcPts val="0"/>
              </a:spcBef>
              <a:spcAft>
                <a:spcPts val="0"/>
              </a:spcAft>
              <a:buSzPts val="1200"/>
              <a:buChar char="○"/>
            </a:pPr>
            <a:r>
              <a:rPr lang="en"/>
              <a:t>Brandon (supporting manager)</a:t>
            </a:r>
            <a:endParaRPr/>
          </a:p>
          <a:p>
            <a:pPr marL="914400" lvl="1" indent="-304800" algn="l" rtl="0">
              <a:spcBef>
                <a:spcPts val="0"/>
              </a:spcBef>
              <a:spcAft>
                <a:spcPts val="0"/>
              </a:spcAft>
              <a:buSzPts val="1200"/>
              <a:buChar char="○"/>
            </a:pPr>
            <a:r>
              <a:rPr lang="en"/>
              <a:t>Zach and Carson (staff members)</a:t>
            </a:r>
            <a:endParaRPr/>
          </a:p>
          <a:p>
            <a:pPr marL="914400" lvl="1" indent="-304800" algn="l" rtl="0">
              <a:spcBef>
                <a:spcPts val="0"/>
              </a:spcBef>
              <a:spcAft>
                <a:spcPts val="0"/>
              </a:spcAft>
              <a:buSzPts val="1200"/>
              <a:buChar char="○"/>
            </a:pPr>
            <a:r>
              <a:rPr lang="en"/>
              <a:t>Allowed us to compare perspectives between management and employees</a:t>
            </a:r>
            <a:endParaRPr/>
          </a:p>
        </p:txBody>
      </p:sp>
      <p:sp>
        <p:nvSpPr>
          <p:cNvPr id="513" name="Google Shape;513;p56"/>
          <p:cNvSpPr txBox="1">
            <a:spLocks noGrp="1"/>
          </p:cNvSpPr>
          <p:nvPr>
            <p:ph type="body" idx="2"/>
          </p:nvPr>
        </p:nvSpPr>
        <p:spPr>
          <a:xfrm>
            <a:off x="5048000" y="2150988"/>
            <a:ext cx="3619800" cy="23736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a:t>Secondary Sources</a:t>
            </a:r>
            <a:endParaRPr/>
          </a:p>
          <a:p>
            <a:pPr marL="914400" lvl="1" indent="-304800" algn="l" rtl="0">
              <a:spcBef>
                <a:spcPts val="0"/>
              </a:spcBef>
              <a:spcAft>
                <a:spcPts val="0"/>
              </a:spcAft>
              <a:buSzPts val="1200"/>
              <a:buChar char="○"/>
            </a:pPr>
            <a:r>
              <a:rPr lang="en"/>
              <a:t>Sources such as industry reports and reputable websites provided additional information on the moving industry and its trends/demand patterns</a:t>
            </a:r>
            <a:endParaRPr/>
          </a:p>
          <a:p>
            <a:pPr marL="457200" lvl="0" indent="-304800" algn="l" rtl="0">
              <a:spcBef>
                <a:spcPts val="0"/>
              </a:spcBef>
              <a:spcAft>
                <a:spcPts val="0"/>
              </a:spcAft>
              <a:buSzPts val="1200"/>
              <a:buChar char="●"/>
            </a:pPr>
            <a:r>
              <a:rPr lang="en"/>
              <a:t>Information provided informally</a:t>
            </a:r>
            <a:endParaRPr/>
          </a:p>
          <a:p>
            <a:pPr marL="914400" lvl="1" indent="-304800" algn="l" rtl="0">
              <a:spcBef>
                <a:spcPts val="0"/>
              </a:spcBef>
              <a:spcAft>
                <a:spcPts val="0"/>
              </a:spcAft>
              <a:buSzPts val="1200"/>
              <a:buChar char="○"/>
            </a:pPr>
            <a:r>
              <a:rPr lang="en"/>
              <a:t>Additional information provided by Nick Halpin (COO) between formal meeting times</a:t>
            </a:r>
            <a:endParaRPr/>
          </a:p>
          <a:p>
            <a:pPr marL="914400" lvl="1" indent="-304800" algn="l" rtl="0">
              <a:spcBef>
                <a:spcPts val="0"/>
              </a:spcBef>
              <a:spcAft>
                <a:spcPts val="0"/>
              </a:spcAft>
              <a:buSzPts val="1200"/>
              <a:buChar char="○"/>
            </a:pPr>
            <a:r>
              <a:rPr lang="en"/>
              <a:t>Gave us more insight on scheduling and staffing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pic>
        <p:nvPicPr>
          <p:cNvPr id="518" name="Google Shape;518;p57" descr="Oval black shapes against a shadowy background. "/>
          <p:cNvPicPr preferRelativeResize="0"/>
          <p:nvPr/>
        </p:nvPicPr>
        <p:blipFill rotWithShape="1">
          <a:blip r:embed="rId3">
            <a:alphaModFix/>
          </a:blip>
          <a:srcRect l="35228" t="-4323" r="7527" b="50283"/>
          <a:stretch/>
        </p:blipFill>
        <p:spPr>
          <a:xfrm>
            <a:off x="4618950" y="2158000"/>
            <a:ext cx="4298100" cy="2282700"/>
          </a:xfrm>
          <a:prstGeom prst="roundRect">
            <a:avLst>
              <a:gd name="adj" fmla="val 6189"/>
            </a:avLst>
          </a:prstGeom>
          <a:noFill/>
          <a:ln w="9525" cap="flat" cmpd="sng">
            <a:solidFill>
              <a:schemeClr val="accent1"/>
            </a:solidFill>
            <a:prstDash val="solid"/>
            <a:round/>
            <a:headEnd type="none" w="sm" len="sm"/>
            <a:tailEnd type="none" w="sm" len="sm"/>
          </a:ln>
        </p:spPr>
      </p:pic>
      <p:pic>
        <p:nvPicPr>
          <p:cNvPr id="519" name="Google Shape;519;p57" descr="The edges of black plates against a black background. "/>
          <p:cNvPicPr preferRelativeResize="0"/>
          <p:nvPr/>
        </p:nvPicPr>
        <p:blipFill rotWithShape="1">
          <a:blip r:embed="rId4">
            <a:alphaModFix/>
          </a:blip>
          <a:srcRect l="19958" t="24539" r="17041" b="2361"/>
          <a:stretch/>
        </p:blipFill>
        <p:spPr>
          <a:xfrm>
            <a:off x="4618950" y="737775"/>
            <a:ext cx="2068800" cy="1350300"/>
          </a:xfrm>
          <a:prstGeom prst="roundRect">
            <a:avLst>
              <a:gd name="adj" fmla="val 8809"/>
            </a:avLst>
          </a:prstGeom>
          <a:noFill/>
          <a:ln w="9525" cap="flat" cmpd="sng">
            <a:solidFill>
              <a:schemeClr val="accent1"/>
            </a:solidFill>
            <a:prstDash val="solid"/>
            <a:round/>
            <a:headEnd type="none" w="sm" len="sm"/>
            <a:tailEnd type="none" w="sm" len="sm"/>
          </a:ln>
        </p:spPr>
      </p:pic>
      <p:pic>
        <p:nvPicPr>
          <p:cNvPr id="520" name="Google Shape;520;p57" descr="Faint shadows in near total darkness. "/>
          <p:cNvPicPr preferRelativeResize="0"/>
          <p:nvPr/>
        </p:nvPicPr>
        <p:blipFill rotWithShape="1">
          <a:blip r:embed="rId5">
            <a:alphaModFix/>
          </a:blip>
          <a:srcRect t="35140" r="15297" b="35140"/>
          <a:stretch/>
        </p:blipFill>
        <p:spPr>
          <a:xfrm>
            <a:off x="6752225" y="737775"/>
            <a:ext cx="2164800" cy="1350300"/>
          </a:xfrm>
          <a:prstGeom prst="roundRect">
            <a:avLst>
              <a:gd name="adj" fmla="val 8765"/>
            </a:avLst>
          </a:prstGeom>
          <a:noFill/>
          <a:ln w="9525" cap="flat" cmpd="sng">
            <a:solidFill>
              <a:schemeClr val="accent1"/>
            </a:solidFill>
            <a:prstDash val="solid"/>
            <a:round/>
            <a:headEnd type="none" w="sm" len="sm"/>
            <a:tailEnd type="none" w="sm" len="sm"/>
          </a:ln>
        </p:spPr>
      </p:pic>
      <p:sp>
        <p:nvSpPr>
          <p:cNvPr id="521" name="Google Shape;521;p57"/>
          <p:cNvSpPr txBox="1">
            <a:spLocks noGrp="1"/>
          </p:cNvSpPr>
          <p:nvPr>
            <p:ph type="title" idx="19"/>
          </p:nvPr>
        </p:nvSpPr>
        <p:spPr>
          <a:xfrm>
            <a:off x="228600" y="613525"/>
            <a:ext cx="3904500" cy="444900"/>
          </a:xfrm>
          <a:prstGeom prst="rect">
            <a:avLst/>
          </a:prstGeom>
        </p:spPr>
        <p:txBody>
          <a:bodyPr spcFirstLastPara="1" wrap="square" lIns="0" tIns="0" rIns="0" bIns="0" anchor="t" anchorCtr="0">
            <a:spAutoFit/>
          </a:bodyPr>
          <a:lstStyle/>
          <a:p>
            <a:pPr marL="0" lvl="0" indent="0" algn="l" rtl="0">
              <a:spcBef>
                <a:spcPts val="0"/>
              </a:spcBef>
              <a:spcAft>
                <a:spcPts val="0"/>
              </a:spcAft>
              <a:buClr>
                <a:schemeClr val="dk1"/>
              </a:buClr>
              <a:buSzPts val="1100"/>
              <a:buNone/>
            </a:pPr>
            <a:r>
              <a:rPr lang="en"/>
              <a:t>Timeline</a:t>
            </a:r>
            <a:endParaRPr/>
          </a:p>
        </p:txBody>
      </p:sp>
      <p:sp>
        <p:nvSpPr>
          <p:cNvPr id="522" name="Google Shape;522;p57"/>
          <p:cNvSpPr txBox="1">
            <a:spLocks noGrp="1"/>
          </p:cNvSpPr>
          <p:nvPr>
            <p:ph type="body" idx="6"/>
          </p:nvPr>
        </p:nvSpPr>
        <p:spPr>
          <a:xfrm>
            <a:off x="372925" y="2366425"/>
            <a:ext cx="1826700" cy="477900"/>
          </a:xfrm>
          <a:prstGeom prst="rect">
            <a:avLst/>
          </a:prstGeom>
        </p:spPr>
        <p:txBody>
          <a:bodyPr spcFirstLastPara="1" wrap="square" lIns="0" tIns="0" rIns="91425" bIns="91425" anchor="t" anchorCtr="0">
            <a:noAutofit/>
          </a:bodyPr>
          <a:lstStyle/>
          <a:p>
            <a:pPr marL="457200" lvl="0" indent="-292100" algn="l" rtl="0">
              <a:lnSpc>
                <a:spcPct val="115000"/>
              </a:lnSpc>
              <a:spcBef>
                <a:spcPts val="0"/>
              </a:spcBef>
              <a:spcAft>
                <a:spcPts val="0"/>
              </a:spcAft>
              <a:buClr>
                <a:schemeClr val="dk2"/>
              </a:buClr>
              <a:buSzPts val="1000"/>
              <a:buChar char="●"/>
            </a:pPr>
            <a:r>
              <a:rPr lang="en" sz="1000"/>
              <a:t>Overall goals</a:t>
            </a:r>
            <a:endParaRPr sz="1000"/>
          </a:p>
          <a:p>
            <a:pPr marL="457200" lvl="0" indent="-292100" algn="l" rtl="0">
              <a:lnSpc>
                <a:spcPct val="115000"/>
              </a:lnSpc>
              <a:spcBef>
                <a:spcPts val="0"/>
              </a:spcBef>
              <a:spcAft>
                <a:spcPts val="0"/>
              </a:spcAft>
              <a:buSzPts val="1000"/>
              <a:buChar char="●"/>
            </a:pPr>
            <a:r>
              <a:rPr lang="en" sz="1000"/>
              <a:t>Initial information on the company itself</a:t>
            </a:r>
            <a:endParaRPr sz="1000"/>
          </a:p>
          <a:p>
            <a:pPr marL="457200" lvl="0" indent="-292100" algn="l" rtl="0">
              <a:lnSpc>
                <a:spcPct val="115000"/>
              </a:lnSpc>
              <a:spcBef>
                <a:spcPts val="0"/>
              </a:spcBef>
              <a:spcAft>
                <a:spcPts val="0"/>
              </a:spcAft>
              <a:buSzPts val="1000"/>
              <a:buChar char="●"/>
            </a:pPr>
            <a:r>
              <a:rPr lang="en" sz="1000"/>
              <a:t>Company group dynamics</a:t>
            </a:r>
            <a:endParaRPr sz="1000"/>
          </a:p>
          <a:p>
            <a:pPr marL="457200" lvl="0" indent="-292100" algn="l" rtl="0">
              <a:lnSpc>
                <a:spcPct val="115000"/>
              </a:lnSpc>
              <a:spcBef>
                <a:spcPts val="0"/>
              </a:spcBef>
              <a:spcAft>
                <a:spcPts val="0"/>
              </a:spcAft>
              <a:buSzPts val="1000"/>
              <a:buChar char="●"/>
            </a:pPr>
            <a:r>
              <a:rPr lang="en" sz="1000"/>
              <a:t>Previous resolved/unresolved issues</a:t>
            </a:r>
            <a:endParaRPr sz="1000"/>
          </a:p>
        </p:txBody>
      </p:sp>
      <p:sp>
        <p:nvSpPr>
          <p:cNvPr id="523" name="Google Shape;523;p57"/>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Our mission</a:t>
            </a:r>
            <a:endParaRPr/>
          </a:p>
        </p:txBody>
      </p:sp>
      <p:sp>
        <p:nvSpPr>
          <p:cNvPr id="524" name="Google Shape;524;p57"/>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October 7 and October 14</a:t>
            </a:r>
            <a:endParaRPr/>
          </a:p>
        </p:txBody>
      </p:sp>
      <p:sp>
        <p:nvSpPr>
          <p:cNvPr id="525" name="Google Shape;525;p57"/>
          <p:cNvSpPr txBox="1">
            <a:spLocks noGrp="1"/>
          </p:cNvSpPr>
          <p:nvPr>
            <p:ph type="subTitle" idx="14"/>
          </p:nvPr>
        </p:nvSpPr>
        <p:spPr>
          <a:xfrm>
            <a:off x="4745500" y="2161825"/>
            <a:ext cx="2068800" cy="2046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200"/>
              <a:t>October 20 and October 29</a:t>
            </a:r>
            <a:endParaRPr sz="1200"/>
          </a:p>
        </p:txBody>
      </p:sp>
      <p:sp>
        <p:nvSpPr>
          <p:cNvPr id="526" name="Google Shape;526;p57"/>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November 7</a:t>
            </a:r>
            <a:endParaRPr/>
          </a:p>
        </p:txBody>
      </p:sp>
      <p:sp>
        <p:nvSpPr>
          <p:cNvPr id="527" name="Google Shape;527;p57"/>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p>
            <a:pPr marL="457200" lvl="0" indent="-292100" algn="l" rtl="0">
              <a:spcBef>
                <a:spcPts val="0"/>
              </a:spcBef>
              <a:spcAft>
                <a:spcPts val="0"/>
              </a:spcAft>
              <a:buSzPts val="1000"/>
              <a:buChar char="●"/>
            </a:pPr>
            <a:r>
              <a:rPr lang="en" sz="1000"/>
              <a:t>How to proceed</a:t>
            </a:r>
            <a:endParaRPr sz="1000"/>
          </a:p>
          <a:p>
            <a:pPr marL="457200" lvl="0" indent="-292100" algn="l" rtl="0">
              <a:spcBef>
                <a:spcPts val="0"/>
              </a:spcBef>
              <a:spcAft>
                <a:spcPts val="0"/>
              </a:spcAft>
              <a:buSzPts val="1000"/>
              <a:buChar char="●"/>
            </a:pPr>
            <a:r>
              <a:rPr lang="en" sz="1000"/>
              <a:t>Enforcing boundaries</a:t>
            </a:r>
            <a:endParaRPr sz="1000"/>
          </a:p>
        </p:txBody>
      </p:sp>
      <p:sp>
        <p:nvSpPr>
          <p:cNvPr id="528" name="Google Shape;528;p57"/>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a:t>Initial Interviews (Nick)</a:t>
            </a:r>
            <a:endParaRPr/>
          </a:p>
        </p:txBody>
      </p:sp>
      <p:sp>
        <p:nvSpPr>
          <p:cNvPr id="529" name="Google Shape;529;p57"/>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100"/>
              <a:t>September 28 and October 1</a:t>
            </a:r>
            <a:endParaRPr sz="1100"/>
          </a:p>
        </p:txBody>
      </p:sp>
      <p:sp>
        <p:nvSpPr>
          <p:cNvPr id="530" name="Google Shape;530;p57"/>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a:t>Interviews With Management (Brandon)</a:t>
            </a:r>
            <a:endParaRPr/>
          </a:p>
        </p:txBody>
      </p:sp>
      <p:sp>
        <p:nvSpPr>
          <p:cNvPr id="531" name="Google Shape;531;p57"/>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p>
            <a:pPr marL="457200" lvl="0" indent="-292100" algn="l" rtl="0">
              <a:spcBef>
                <a:spcPts val="0"/>
              </a:spcBef>
              <a:spcAft>
                <a:spcPts val="0"/>
              </a:spcAft>
              <a:buSzPts val="1000"/>
              <a:buChar char="●"/>
            </a:pPr>
            <a:r>
              <a:rPr lang="en" sz="1000"/>
              <a:t>More insight into the management side of the company</a:t>
            </a:r>
            <a:endParaRPr sz="1000"/>
          </a:p>
          <a:p>
            <a:pPr marL="457200" lvl="0" indent="-292100" algn="l" rtl="0">
              <a:spcBef>
                <a:spcPts val="0"/>
              </a:spcBef>
              <a:spcAft>
                <a:spcPts val="0"/>
              </a:spcAft>
              <a:buSzPts val="1000"/>
              <a:buChar char="●"/>
            </a:pPr>
            <a:r>
              <a:rPr lang="en" sz="1000"/>
              <a:t>Potential issues with team members</a:t>
            </a:r>
            <a:endParaRPr sz="1000"/>
          </a:p>
          <a:p>
            <a:pPr marL="457200" lvl="0" indent="-292100" algn="l" rtl="0">
              <a:spcBef>
                <a:spcPts val="0"/>
              </a:spcBef>
              <a:spcAft>
                <a:spcPts val="0"/>
              </a:spcAft>
              <a:buSzPts val="1000"/>
              <a:buChar char="●"/>
            </a:pPr>
            <a:r>
              <a:rPr lang="en" sz="1000"/>
              <a:t>Relationship with management</a:t>
            </a:r>
            <a:endParaRPr sz="1000"/>
          </a:p>
        </p:txBody>
      </p:sp>
      <p:sp>
        <p:nvSpPr>
          <p:cNvPr id="532" name="Google Shape;532;p57"/>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a:t>Interviews With Staff (Zach and Carson)</a:t>
            </a:r>
            <a:endParaRPr/>
          </a:p>
        </p:txBody>
      </p:sp>
      <p:sp>
        <p:nvSpPr>
          <p:cNvPr id="533" name="Google Shape;533;p57"/>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p>
            <a:pPr marL="457200" lvl="0" indent="-292100" algn="l" rtl="0">
              <a:spcBef>
                <a:spcPts val="0"/>
              </a:spcBef>
              <a:spcAft>
                <a:spcPts val="0"/>
              </a:spcAft>
              <a:buSzPts val="1000"/>
              <a:buChar char="●"/>
            </a:pPr>
            <a:r>
              <a:rPr lang="en" sz="1000"/>
              <a:t>Personal issues with staff and management</a:t>
            </a:r>
            <a:endParaRPr sz="1000"/>
          </a:p>
        </p:txBody>
      </p:sp>
      <p:sp>
        <p:nvSpPr>
          <p:cNvPr id="534" name="Google Shape;534;p57"/>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a:t>Closing Interview (Nick)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8"/>
          <p:cNvSpPr txBox="1">
            <a:spLocks noGrp="1"/>
          </p:cNvSpPr>
          <p:nvPr>
            <p:ph type="body" idx="1"/>
          </p:nvPr>
        </p:nvSpPr>
        <p:spPr>
          <a:xfrm>
            <a:off x="1181250" y="1954350"/>
            <a:ext cx="6781500" cy="3179400"/>
          </a:xfrm>
          <a:prstGeom prst="rect">
            <a:avLst/>
          </a:prstGeom>
        </p:spPr>
        <p:txBody>
          <a:bodyPr spcFirstLastPara="1" wrap="square" lIns="114700" tIns="114700" rIns="114700" bIns="114700" anchor="t" anchorCtr="0">
            <a:noAutofit/>
          </a:bodyPr>
          <a:lstStyle/>
          <a:p>
            <a:pPr marL="457200" lvl="0" indent="0" algn="ctr" rtl="0">
              <a:spcBef>
                <a:spcPts val="0"/>
              </a:spcBef>
              <a:spcAft>
                <a:spcPts val="0"/>
              </a:spcAft>
              <a:buNone/>
            </a:pPr>
            <a:r>
              <a:rPr lang="en" sz="1800"/>
              <a:t>Employees are displaying inconsistent effort, uneven workload, and fluctuating performance</a:t>
            </a:r>
            <a:endParaRPr sz="1800"/>
          </a:p>
          <a:p>
            <a:pPr marL="457200" lvl="0" indent="0" algn="ctr" rtl="0">
              <a:spcBef>
                <a:spcPts val="0"/>
              </a:spcBef>
              <a:spcAft>
                <a:spcPts val="0"/>
              </a:spcAft>
              <a:buNone/>
            </a:pPr>
            <a:endParaRPr sz="1800"/>
          </a:p>
          <a:p>
            <a:pPr marL="457200" lvl="0" indent="0" algn="ctr" rtl="0">
              <a:spcBef>
                <a:spcPts val="0"/>
              </a:spcBef>
              <a:spcAft>
                <a:spcPts val="0"/>
              </a:spcAft>
              <a:buNone/>
            </a:pPr>
            <a:r>
              <a:rPr lang="en" sz="1800"/>
              <a:t>Little connection between effort, performance, and reward</a:t>
            </a:r>
            <a:endParaRPr sz="1800"/>
          </a:p>
          <a:p>
            <a:pPr marL="457200" lvl="0" indent="0" algn="ctr" rtl="0">
              <a:spcBef>
                <a:spcPts val="0"/>
              </a:spcBef>
              <a:spcAft>
                <a:spcPts val="0"/>
              </a:spcAft>
              <a:buNone/>
            </a:pPr>
            <a:r>
              <a:rPr lang="en" sz="1800"/>
              <a:t>Some employees report having to “pick up the slack” because others are only doing the bare minimum</a:t>
            </a:r>
            <a:endParaRPr sz="1800"/>
          </a:p>
        </p:txBody>
      </p:sp>
      <p:sp>
        <p:nvSpPr>
          <p:cNvPr id="540" name="Google Shape;540;p58"/>
          <p:cNvSpPr txBox="1">
            <a:spLocks noGrp="1"/>
          </p:cNvSpPr>
          <p:nvPr>
            <p:ph type="title" idx="4294967295"/>
          </p:nvPr>
        </p:nvSpPr>
        <p:spPr>
          <a:xfrm>
            <a:off x="233850" y="228600"/>
            <a:ext cx="2628900" cy="29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Output Problem</a:t>
            </a:r>
            <a:endParaRPr sz="2800"/>
          </a:p>
        </p:txBody>
      </p:sp>
      <p:sp>
        <p:nvSpPr>
          <p:cNvPr id="541" name="Google Shape;541;p58"/>
          <p:cNvSpPr txBox="1"/>
          <p:nvPr/>
        </p:nvSpPr>
        <p:spPr>
          <a:xfrm>
            <a:off x="2058600" y="1354025"/>
            <a:ext cx="50268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accent3"/>
                </a:solidFill>
                <a:latin typeface="Urbanist"/>
                <a:ea typeface="Urbanist"/>
                <a:cs typeface="Urbanist"/>
                <a:sym typeface="Urbanist"/>
              </a:rPr>
              <a:t>Motivation and accountability</a:t>
            </a:r>
            <a:endParaRPr sz="2400" b="1">
              <a:solidFill>
                <a:schemeClr val="accent3"/>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cxnSp>
        <p:nvCxnSpPr>
          <p:cNvPr id="546" name="Google Shape;546;p59"/>
          <p:cNvCxnSpPr/>
          <p:nvPr/>
        </p:nvCxnSpPr>
        <p:spPr>
          <a:xfrm>
            <a:off x="2640313" y="1517775"/>
            <a:ext cx="0" cy="3198900"/>
          </a:xfrm>
          <a:prstGeom prst="straightConnector1">
            <a:avLst/>
          </a:prstGeom>
          <a:noFill/>
          <a:ln w="9525" cap="flat" cmpd="sng">
            <a:solidFill>
              <a:schemeClr val="accent1"/>
            </a:solidFill>
            <a:prstDash val="solid"/>
            <a:round/>
            <a:headEnd type="none" w="med" len="med"/>
            <a:tailEnd type="none" w="med" len="med"/>
          </a:ln>
        </p:spPr>
      </p:cxnSp>
      <p:cxnSp>
        <p:nvCxnSpPr>
          <p:cNvPr id="547" name="Google Shape;547;p59"/>
          <p:cNvCxnSpPr/>
          <p:nvPr/>
        </p:nvCxnSpPr>
        <p:spPr>
          <a:xfrm>
            <a:off x="-62675" y="1485050"/>
            <a:ext cx="9006600" cy="31500"/>
          </a:xfrm>
          <a:prstGeom prst="straightConnector1">
            <a:avLst/>
          </a:prstGeom>
          <a:noFill/>
          <a:ln w="9525" cap="flat" cmpd="sng">
            <a:solidFill>
              <a:schemeClr val="accent1"/>
            </a:solidFill>
            <a:prstDash val="solid"/>
            <a:round/>
            <a:headEnd type="none" w="med" len="med"/>
            <a:tailEnd type="none" w="med" len="med"/>
          </a:ln>
        </p:spPr>
      </p:cxnSp>
      <p:cxnSp>
        <p:nvCxnSpPr>
          <p:cNvPr id="548" name="Google Shape;548;p59"/>
          <p:cNvCxnSpPr/>
          <p:nvPr/>
        </p:nvCxnSpPr>
        <p:spPr>
          <a:xfrm>
            <a:off x="5934713" y="1576400"/>
            <a:ext cx="0" cy="3198900"/>
          </a:xfrm>
          <a:prstGeom prst="straightConnector1">
            <a:avLst/>
          </a:prstGeom>
          <a:noFill/>
          <a:ln w="9525" cap="flat" cmpd="sng">
            <a:solidFill>
              <a:schemeClr val="accent1"/>
            </a:solidFill>
            <a:prstDash val="solid"/>
            <a:round/>
            <a:headEnd type="none" w="med" len="med"/>
            <a:tailEnd type="none" w="med" len="med"/>
          </a:ln>
        </p:spPr>
      </p:cxnSp>
      <p:grpSp>
        <p:nvGrpSpPr>
          <p:cNvPr id="549" name="Google Shape;549;p59"/>
          <p:cNvGrpSpPr/>
          <p:nvPr/>
        </p:nvGrpSpPr>
        <p:grpSpPr>
          <a:xfrm>
            <a:off x="2274231" y="1793075"/>
            <a:ext cx="204654" cy="204654"/>
            <a:chOff x="259788" y="1923155"/>
            <a:chExt cx="409800" cy="409800"/>
          </a:xfrm>
        </p:grpSpPr>
        <p:sp>
          <p:nvSpPr>
            <p:cNvPr id="550" name="Google Shape;550;p59"/>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51" name="Google Shape;551;p59"/>
            <p:cNvGrpSpPr/>
            <p:nvPr/>
          </p:nvGrpSpPr>
          <p:grpSpPr>
            <a:xfrm>
              <a:off x="362088" y="2093825"/>
              <a:ext cx="205200" cy="102600"/>
              <a:chOff x="498725" y="2069800"/>
              <a:chExt cx="205200" cy="102600"/>
            </a:xfrm>
          </p:grpSpPr>
          <p:cxnSp>
            <p:nvCxnSpPr>
              <p:cNvPr id="552" name="Google Shape;552;p59"/>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553" name="Google Shape;553;p59"/>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554" name="Google Shape;554;p59"/>
          <p:cNvGrpSpPr/>
          <p:nvPr/>
        </p:nvGrpSpPr>
        <p:grpSpPr>
          <a:xfrm>
            <a:off x="5618381" y="1801500"/>
            <a:ext cx="204654" cy="204654"/>
            <a:chOff x="259788" y="1923155"/>
            <a:chExt cx="409800" cy="409800"/>
          </a:xfrm>
        </p:grpSpPr>
        <p:sp>
          <p:nvSpPr>
            <p:cNvPr id="555" name="Google Shape;555;p59"/>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56" name="Google Shape;556;p59"/>
            <p:cNvGrpSpPr/>
            <p:nvPr/>
          </p:nvGrpSpPr>
          <p:grpSpPr>
            <a:xfrm>
              <a:off x="362088" y="2093825"/>
              <a:ext cx="205200" cy="102600"/>
              <a:chOff x="498725" y="2069800"/>
              <a:chExt cx="205200" cy="102600"/>
            </a:xfrm>
          </p:grpSpPr>
          <p:cxnSp>
            <p:nvCxnSpPr>
              <p:cNvPr id="557" name="Google Shape;557;p59"/>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558" name="Google Shape;558;p59"/>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559" name="Google Shape;559;p59"/>
          <p:cNvGrpSpPr/>
          <p:nvPr/>
        </p:nvGrpSpPr>
        <p:grpSpPr>
          <a:xfrm>
            <a:off x="8711056" y="1801500"/>
            <a:ext cx="204654" cy="204654"/>
            <a:chOff x="259788" y="1923155"/>
            <a:chExt cx="409800" cy="409800"/>
          </a:xfrm>
        </p:grpSpPr>
        <p:sp>
          <p:nvSpPr>
            <p:cNvPr id="560" name="Google Shape;560;p59"/>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61" name="Google Shape;561;p59"/>
            <p:cNvGrpSpPr/>
            <p:nvPr/>
          </p:nvGrpSpPr>
          <p:grpSpPr>
            <a:xfrm>
              <a:off x="362088" y="2093825"/>
              <a:ext cx="205200" cy="102600"/>
              <a:chOff x="498725" y="2069800"/>
              <a:chExt cx="205200" cy="102600"/>
            </a:xfrm>
          </p:grpSpPr>
          <p:cxnSp>
            <p:nvCxnSpPr>
              <p:cNvPr id="562" name="Google Shape;562;p59"/>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563" name="Google Shape;563;p59"/>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sp>
        <p:nvSpPr>
          <p:cNvPr id="564" name="Google Shape;564;p59"/>
          <p:cNvSpPr txBox="1">
            <a:spLocks noGrp="1"/>
          </p:cNvSpPr>
          <p:nvPr>
            <p:ph type="title"/>
          </p:nvPr>
        </p:nvSpPr>
        <p:spPr>
          <a:xfrm>
            <a:off x="186600" y="136475"/>
            <a:ext cx="8676900" cy="406200"/>
          </a:xfrm>
          <a:prstGeom prst="rect">
            <a:avLst/>
          </a:prstGeom>
        </p:spPr>
        <p:txBody>
          <a:bodyPr spcFirstLastPara="1" wrap="square" lIns="0" tIns="0" rIns="91425" bIns="91425" anchor="t" anchorCtr="0">
            <a:spAutoFit/>
          </a:bodyPr>
          <a:lstStyle/>
          <a:p>
            <a:pPr marL="0" lvl="0" indent="0" algn="l" rtl="0">
              <a:spcBef>
                <a:spcPts val="0"/>
              </a:spcBef>
              <a:spcAft>
                <a:spcPts val="0"/>
              </a:spcAft>
              <a:buClr>
                <a:schemeClr val="dk1"/>
              </a:buClr>
              <a:buSzPts val="1100"/>
              <a:buNone/>
            </a:pPr>
            <a:r>
              <a:rPr lang="en"/>
              <a:t>Output Problem #1 - Expectancy Theory </a:t>
            </a:r>
            <a:endParaRPr/>
          </a:p>
        </p:txBody>
      </p:sp>
      <p:sp>
        <p:nvSpPr>
          <p:cNvPr id="565" name="Google Shape;565;p59"/>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1</a:t>
            </a:r>
            <a:endParaRPr/>
          </a:p>
        </p:txBody>
      </p:sp>
      <p:sp>
        <p:nvSpPr>
          <p:cNvPr id="566" name="Google Shape;566;p59"/>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2</a:t>
            </a:r>
            <a:endParaRPr/>
          </a:p>
        </p:txBody>
      </p:sp>
      <p:sp>
        <p:nvSpPr>
          <p:cNvPr id="567" name="Google Shape;567;p59"/>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3</a:t>
            </a:r>
            <a:endParaRPr/>
          </a:p>
        </p:txBody>
      </p:sp>
      <p:sp>
        <p:nvSpPr>
          <p:cNvPr id="568" name="Google Shape;568;p59"/>
          <p:cNvSpPr txBox="1">
            <a:spLocks noGrp="1"/>
          </p:cNvSpPr>
          <p:nvPr>
            <p:ph type="body" idx="8"/>
          </p:nvPr>
        </p:nvSpPr>
        <p:spPr>
          <a:xfrm>
            <a:off x="288575" y="2571750"/>
            <a:ext cx="2190300" cy="200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sz="1400" b="1"/>
              <a:t>Expectancy </a:t>
            </a:r>
            <a:endParaRPr sz="1400" b="1"/>
          </a:p>
          <a:p>
            <a:pPr marL="0" lvl="0" indent="0" algn="l" rtl="0">
              <a:spcBef>
                <a:spcPts val="0"/>
              </a:spcBef>
              <a:spcAft>
                <a:spcPts val="0"/>
              </a:spcAft>
              <a:buNone/>
            </a:pPr>
            <a:endParaRPr sz="1400" b="1"/>
          </a:p>
          <a:p>
            <a:pPr marL="0" lvl="0" indent="0" algn="l" rtl="0">
              <a:spcBef>
                <a:spcPts val="0"/>
              </a:spcBef>
              <a:spcAft>
                <a:spcPts val="0"/>
              </a:spcAft>
              <a:buNone/>
            </a:pPr>
            <a:endParaRPr sz="1400" b="1"/>
          </a:p>
          <a:p>
            <a:pPr marL="0" lvl="0" indent="0" algn="l" rtl="0">
              <a:spcBef>
                <a:spcPts val="0"/>
              </a:spcBef>
              <a:spcAft>
                <a:spcPts val="0"/>
              </a:spcAft>
              <a:buNone/>
            </a:pPr>
            <a:r>
              <a:rPr lang="en" sz="1400"/>
              <a:t>The belief that putting in effort will result in a successful performance.</a:t>
            </a:r>
            <a:endParaRPr/>
          </a:p>
        </p:txBody>
      </p:sp>
      <p:sp>
        <p:nvSpPr>
          <p:cNvPr id="569" name="Google Shape;569;p59"/>
          <p:cNvSpPr txBox="1">
            <a:spLocks noGrp="1"/>
          </p:cNvSpPr>
          <p:nvPr>
            <p:ph type="body" idx="9"/>
          </p:nvPr>
        </p:nvSpPr>
        <p:spPr>
          <a:xfrm>
            <a:off x="6096313" y="3243900"/>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sz="1400" b="1"/>
              <a:t>Valence </a:t>
            </a:r>
            <a:endParaRPr sz="1400" b="1"/>
          </a:p>
          <a:p>
            <a:pPr marL="0" lvl="0" indent="0" algn="l" rtl="0">
              <a:spcBef>
                <a:spcPts val="0"/>
              </a:spcBef>
              <a:spcAft>
                <a:spcPts val="0"/>
              </a:spcAft>
              <a:buNone/>
            </a:pPr>
            <a:endParaRPr sz="1400" b="1"/>
          </a:p>
          <a:p>
            <a:pPr marL="0" lvl="0" indent="0" algn="l" rtl="0">
              <a:spcBef>
                <a:spcPts val="0"/>
              </a:spcBef>
              <a:spcAft>
                <a:spcPts val="0"/>
              </a:spcAft>
              <a:buNone/>
            </a:pPr>
            <a:endParaRPr sz="1400" b="1"/>
          </a:p>
          <a:p>
            <a:pPr marL="0" lvl="0" indent="0" algn="l" rtl="0">
              <a:spcBef>
                <a:spcPts val="0"/>
              </a:spcBef>
              <a:spcAft>
                <a:spcPts val="0"/>
              </a:spcAft>
              <a:buNone/>
            </a:pPr>
            <a:r>
              <a:rPr lang="en"/>
              <a:t>The value that an individual places on the anticipated reward/outcome.</a:t>
            </a:r>
            <a:endParaRPr/>
          </a:p>
        </p:txBody>
      </p:sp>
      <p:sp>
        <p:nvSpPr>
          <p:cNvPr id="570" name="Google Shape;570;p59"/>
          <p:cNvSpPr txBox="1">
            <a:spLocks noGrp="1"/>
          </p:cNvSpPr>
          <p:nvPr>
            <p:ph type="body" idx="13"/>
          </p:nvPr>
        </p:nvSpPr>
        <p:spPr>
          <a:xfrm>
            <a:off x="2954925" y="3441225"/>
            <a:ext cx="2665200" cy="1188300"/>
          </a:xfrm>
          <a:prstGeom prst="rect">
            <a:avLst/>
          </a:prstGeom>
        </p:spPr>
        <p:txBody>
          <a:bodyPr spcFirstLastPara="1" wrap="square" lIns="0" tIns="0" rIns="91425" bIns="91425" anchor="b" anchorCtr="0">
            <a:noAutofit/>
          </a:bodyPr>
          <a:lstStyle/>
          <a:p>
            <a:pPr marL="0" lvl="0" indent="0" algn="l" rtl="0">
              <a:lnSpc>
                <a:spcPct val="100000"/>
              </a:lnSpc>
              <a:spcBef>
                <a:spcPts val="0"/>
              </a:spcBef>
              <a:spcAft>
                <a:spcPts val="0"/>
              </a:spcAft>
              <a:buClr>
                <a:schemeClr val="dk1"/>
              </a:buClr>
              <a:buSzPts val="1100"/>
              <a:buFont typeface="Arial"/>
              <a:buNone/>
            </a:pPr>
            <a:r>
              <a:rPr lang="en" sz="1400" b="1">
                <a:solidFill>
                  <a:schemeClr val="dk2"/>
                </a:solidFill>
              </a:rPr>
              <a:t>Instrumentality </a:t>
            </a:r>
            <a:endParaRPr sz="1400" b="1">
              <a:solidFill>
                <a:schemeClr val="dk2"/>
              </a:solidFill>
            </a:endParaRPr>
          </a:p>
          <a:p>
            <a:pPr marL="0" lvl="0" indent="0" algn="l" rtl="0">
              <a:lnSpc>
                <a:spcPct val="100000"/>
              </a:lnSpc>
              <a:spcBef>
                <a:spcPts val="0"/>
              </a:spcBef>
              <a:spcAft>
                <a:spcPts val="0"/>
              </a:spcAft>
              <a:buClr>
                <a:schemeClr val="dk1"/>
              </a:buClr>
              <a:buSzPts val="1100"/>
              <a:buFont typeface="Arial"/>
              <a:buNone/>
            </a:pPr>
            <a:endParaRPr sz="1400" b="1">
              <a:solidFill>
                <a:schemeClr val="dk2"/>
              </a:solidFill>
            </a:endParaRPr>
          </a:p>
          <a:p>
            <a:pPr marL="0" lvl="0" indent="0" algn="l" rtl="0">
              <a:lnSpc>
                <a:spcPct val="100000"/>
              </a:lnSpc>
              <a:spcBef>
                <a:spcPts val="0"/>
              </a:spcBef>
              <a:spcAft>
                <a:spcPts val="0"/>
              </a:spcAft>
              <a:buClr>
                <a:schemeClr val="dk1"/>
              </a:buClr>
              <a:buSzPts val="1100"/>
              <a:buFont typeface="Arial"/>
              <a:buNone/>
            </a:pPr>
            <a:endParaRPr sz="1400" b="1">
              <a:solidFill>
                <a:schemeClr val="dk2"/>
              </a:solidFill>
            </a:endParaRPr>
          </a:p>
          <a:p>
            <a:pPr marL="0" lvl="0" indent="0" algn="l" rtl="0">
              <a:lnSpc>
                <a:spcPct val="100000"/>
              </a:lnSpc>
              <a:spcBef>
                <a:spcPts val="0"/>
              </a:spcBef>
              <a:spcAft>
                <a:spcPts val="0"/>
              </a:spcAft>
              <a:buClr>
                <a:schemeClr val="dk1"/>
              </a:buClr>
              <a:buSzPts val="1100"/>
              <a:buFont typeface="Arial"/>
              <a:buNone/>
            </a:pPr>
            <a:r>
              <a:rPr lang="en" sz="1400">
                <a:solidFill>
                  <a:schemeClr val="dk2"/>
                </a:solidFill>
                <a:latin typeface="Urbanist Medium"/>
                <a:ea typeface="Urbanist Medium"/>
                <a:cs typeface="Urbanist Medium"/>
                <a:sym typeface="Urbanist Medium"/>
              </a:rPr>
              <a:t>A specific level of performance will lead to a certain outcome or reward.</a:t>
            </a:r>
            <a:endParaRPr sz="1400" b="1">
              <a:solidFill>
                <a:schemeClr val="dk2"/>
              </a:solidFill>
            </a:endParaRPr>
          </a:p>
          <a:p>
            <a:pPr marL="0" lvl="0" indent="0" algn="l" rtl="0">
              <a:spcBef>
                <a:spcPts val="0"/>
              </a:spcBef>
              <a:spcAft>
                <a:spcPts val="0"/>
              </a:spcAft>
              <a:buClr>
                <a:schemeClr val="dk1"/>
              </a:buClr>
              <a:buSzPts val="1100"/>
              <a:buNone/>
            </a:pPr>
            <a:endParaRPr>
              <a:solidFill>
                <a:schemeClr val="dk2"/>
              </a:solidFill>
              <a:latin typeface="Urbanist Medium"/>
              <a:ea typeface="Urbanist Medium"/>
              <a:cs typeface="Urbanist Medium"/>
              <a:sym typeface="Urbanist Medium"/>
            </a:endParaRPr>
          </a:p>
        </p:txBody>
      </p:sp>
      <p:sp>
        <p:nvSpPr>
          <p:cNvPr id="571" name="Google Shape;571;p59"/>
          <p:cNvSpPr/>
          <p:nvPr/>
        </p:nvSpPr>
        <p:spPr>
          <a:xfrm>
            <a:off x="186600" y="575425"/>
            <a:ext cx="7843800" cy="876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Urbanist"/>
                <a:ea typeface="Urbanist"/>
                <a:cs typeface="Urbanist"/>
                <a:sym typeface="Urbanist"/>
              </a:rPr>
              <a:t>The Expectancy Theory is made up of three parts: Expectancy, Instrumentality, &amp; Valence</a:t>
            </a:r>
            <a:endParaRPr>
              <a:solidFill>
                <a:schemeClr val="lt1"/>
              </a:solidFill>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60"/>
          <p:cNvSpPr txBox="1">
            <a:spLocks noGrp="1"/>
          </p:cNvSpPr>
          <p:nvPr>
            <p:ph type="title"/>
          </p:nvPr>
        </p:nvSpPr>
        <p:spPr>
          <a:xfrm>
            <a:off x="228600" y="290450"/>
            <a:ext cx="8961000" cy="5118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500"/>
              <a:t>Connection to NMBC</a:t>
            </a:r>
            <a:endParaRPr sz="2500"/>
          </a:p>
        </p:txBody>
      </p:sp>
      <p:sp>
        <p:nvSpPr>
          <p:cNvPr id="577" name="Google Shape;577;p60"/>
          <p:cNvSpPr txBox="1"/>
          <p:nvPr/>
        </p:nvSpPr>
        <p:spPr>
          <a:xfrm>
            <a:off x="102800" y="975800"/>
            <a:ext cx="3926100" cy="2986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Urbanist"/>
                <a:ea typeface="Urbanist"/>
                <a:cs typeface="Urbanist"/>
                <a:sym typeface="Urbanist"/>
              </a:rPr>
              <a:t>Interviews reveal that the workers do not see a clear connection between effort and meaningful rewards, since there is no reward. </a:t>
            </a:r>
            <a:endParaRPr>
              <a:solidFill>
                <a:schemeClr val="dk2"/>
              </a:solidFill>
              <a:latin typeface="Urbanist"/>
              <a:ea typeface="Urbanist"/>
              <a:cs typeface="Urbanist"/>
              <a:sym typeface="Urbanist"/>
            </a:endParaRPr>
          </a:p>
          <a:p>
            <a:pPr marL="0" lvl="0" indent="0" algn="l" rtl="0">
              <a:spcBef>
                <a:spcPts val="0"/>
              </a:spcBef>
              <a:spcAft>
                <a:spcPts val="0"/>
              </a:spcAft>
              <a:buNone/>
            </a:pPr>
            <a:endParaRPr>
              <a:solidFill>
                <a:schemeClr val="dk2"/>
              </a:solidFill>
              <a:latin typeface="Urbanist"/>
              <a:ea typeface="Urbanist"/>
              <a:cs typeface="Urbanist"/>
              <a:sym typeface="Urbanist"/>
            </a:endParaRPr>
          </a:p>
          <a:p>
            <a:pPr marL="457200" lvl="0" indent="-317500" algn="l" rtl="0">
              <a:spcBef>
                <a:spcPts val="0"/>
              </a:spcBef>
              <a:spcAft>
                <a:spcPts val="0"/>
              </a:spcAft>
              <a:buClr>
                <a:schemeClr val="dk2"/>
              </a:buClr>
              <a:buSzPts val="1400"/>
              <a:buFont typeface="Urbanist"/>
              <a:buChar char="●"/>
            </a:pPr>
            <a:r>
              <a:rPr lang="en">
                <a:solidFill>
                  <a:schemeClr val="dk2"/>
                </a:solidFill>
                <a:latin typeface="Urbanist"/>
                <a:ea typeface="Urbanist"/>
                <a:cs typeface="Urbanist"/>
                <a:sym typeface="Urbanist"/>
              </a:rPr>
              <a:t>Workers like Zach and Carson see that some members of the team do not complete their assigned work and receive no consequences. </a:t>
            </a:r>
            <a:endParaRPr>
              <a:solidFill>
                <a:schemeClr val="dk2"/>
              </a:solidFill>
              <a:latin typeface="Urbanist"/>
              <a:ea typeface="Urbanist"/>
              <a:cs typeface="Urbanist"/>
              <a:sym typeface="Urbanist"/>
            </a:endParaRPr>
          </a:p>
          <a:p>
            <a:pPr marL="0" lvl="0" indent="0" algn="l" rtl="0">
              <a:spcBef>
                <a:spcPts val="0"/>
              </a:spcBef>
              <a:spcAft>
                <a:spcPts val="0"/>
              </a:spcAft>
              <a:buNone/>
            </a:pPr>
            <a:endParaRPr>
              <a:solidFill>
                <a:schemeClr val="dk2"/>
              </a:solidFill>
              <a:latin typeface="Urbanist"/>
              <a:ea typeface="Urbanist"/>
              <a:cs typeface="Urbanist"/>
              <a:sym typeface="Urbanist"/>
            </a:endParaRPr>
          </a:p>
          <a:p>
            <a:pPr marL="457200" lvl="0" indent="-317500" algn="l" rtl="0">
              <a:spcBef>
                <a:spcPts val="0"/>
              </a:spcBef>
              <a:spcAft>
                <a:spcPts val="0"/>
              </a:spcAft>
              <a:buClr>
                <a:schemeClr val="dk2"/>
              </a:buClr>
              <a:buSzPts val="1400"/>
              <a:buFont typeface="Urbanist"/>
              <a:buChar char="●"/>
            </a:pPr>
            <a:r>
              <a:rPr lang="en">
                <a:solidFill>
                  <a:schemeClr val="dk2"/>
                </a:solidFill>
                <a:latin typeface="Urbanist"/>
                <a:ea typeface="Urbanist"/>
                <a:cs typeface="Urbanist"/>
                <a:sym typeface="Urbanist"/>
              </a:rPr>
              <a:t>The workers also noted that there was inconsistent enforcement of authority from supervisors, and no structured performance evaluation system in place. </a:t>
            </a:r>
            <a:endParaRPr sz="1200">
              <a:solidFill>
                <a:schemeClr val="lt1"/>
              </a:solidFill>
              <a:latin typeface="Urbanist"/>
              <a:ea typeface="Urbanist"/>
              <a:cs typeface="Urbanist"/>
              <a:sym typeface="Urbanist"/>
            </a:endParaRPr>
          </a:p>
        </p:txBody>
      </p:sp>
      <p:pic>
        <p:nvPicPr>
          <p:cNvPr id="578" name="Google Shape;578;p60"/>
          <p:cNvPicPr preferRelativeResize="0"/>
          <p:nvPr/>
        </p:nvPicPr>
        <p:blipFill rotWithShape="1">
          <a:blip r:embed="rId3">
            <a:alphaModFix/>
          </a:blip>
          <a:srcRect l="10638" t="21230" r="10084" b="12381"/>
          <a:stretch/>
        </p:blipFill>
        <p:spPr>
          <a:xfrm>
            <a:off x="4716750" y="1211875"/>
            <a:ext cx="3813450" cy="1518751"/>
          </a:xfrm>
          <a:prstGeom prst="rect">
            <a:avLst/>
          </a:prstGeom>
          <a:noFill/>
          <a:ln>
            <a:noFill/>
          </a:ln>
        </p:spPr>
      </p:pic>
      <p:sp>
        <p:nvSpPr>
          <p:cNvPr id="579" name="Google Shape;579;p60"/>
          <p:cNvSpPr txBox="1"/>
          <p:nvPr/>
        </p:nvSpPr>
        <p:spPr>
          <a:xfrm>
            <a:off x="5397000" y="3021775"/>
            <a:ext cx="2834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lt1"/>
                </a:solidFill>
                <a:latin typeface="Urbanist"/>
                <a:ea typeface="Urbanist"/>
                <a:cs typeface="Urbanist"/>
                <a:sym typeface="Urbanist"/>
              </a:rPr>
              <a:t>There is a lack of reward and performance evaluation system. </a:t>
            </a:r>
            <a:endParaRPr sz="1200">
              <a:solidFill>
                <a:schemeClr val="lt1"/>
              </a:solidFill>
              <a:latin typeface="Urbanist"/>
              <a:ea typeface="Urbanist"/>
              <a:cs typeface="Urbanist"/>
              <a:sym typeface="Urbanist"/>
            </a:endParaRPr>
          </a:p>
        </p:txBody>
      </p:sp>
      <p:pic>
        <p:nvPicPr>
          <p:cNvPr id="580" name="Google Shape;580;p60"/>
          <p:cNvPicPr preferRelativeResize="0"/>
          <p:nvPr/>
        </p:nvPicPr>
        <p:blipFill>
          <a:blip r:embed="rId4">
            <a:alphaModFix/>
          </a:blip>
          <a:stretch>
            <a:fillRect/>
          </a:stretch>
        </p:blipFill>
        <p:spPr>
          <a:xfrm>
            <a:off x="7192436" y="1715494"/>
            <a:ext cx="1013276" cy="805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5" name="Google Shape;585;p61" descr="A luminous galaxy in space. "/>
          <p:cNvPicPr preferRelativeResize="0"/>
          <p:nvPr/>
        </p:nvPicPr>
        <p:blipFill rotWithShape="1">
          <a:blip r:embed="rId3">
            <a:alphaModFix amt="50000"/>
          </a:blip>
          <a:srcRect t="6839" b="1960"/>
          <a:stretch/>
        </p:blipFill>
        <p:spPr>
          <a:xfrm>
            <a:off x="0" y="-3250"/>
            <a:ext cx="9144003" cy="4686976"/>
          </a:xfrm>
          <a:prstGeom prst="rect">
            <a:avLst/>
          </a:prstGeom>
          <a:noFill/>
          <a:ln>
            <a:noFill/>
          </a:ln>
        </p:spPr>
      </p:pic>
      <p:sp>
        <p:nvSpPr>
          <p:cNvPr id="586" name="Google Shape;586;p61"/>
          <p:cNvSpPr txBox="1">
            <a:spLocks noGrp="1"/>
          </p:cNvSpPr>
          <p:nvPr>
            <p:ph type="title"/>
          </p:nvPr>
        </p:nvSpPr>
        <p:spPr>
          <a:xfrm>
            <a:off x="285600" y="173125"/>
            <a:ext cx="8666700" cy="430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500">
                <a:latin typeface="Urbanist"/>
                <a:ea typeface="Urbanist"/>
                <a:cs typeface="Urbanist"/>
                <a:sym typeface="Urbanist"/>
              </a:rPr>
              <a:t>Connection to NMBC </a:t>
            </a:r>
            <a:endParaRPr>
              <a:solidFill>
                <a:schemeClr val="dk2"/>
              </a:solidFill>
            </a:endParaRPr>
          </a:p>
        </p:txBody>
      </p:sp>
      <p:sp>
        <p:nvSpPr>
          <p:cNvPr id="587" name="Google Shape;587;p61"/>
          <p:cNvSpPr/>
          <p:nvPr/>
        </p:nvSpPr>
        <p:spPr>
          <a:xfrm>
            <a:off x="786950" y="700350"/>
            <a:ext cx="7176600" cy="3998700"/>
          </a:xfrm>
          <a:prstGeom prst="roundRect">
            <a:avLst>
              <a:gd name="adj" fmla="val 16829"/>
            </a:avLst>
          </a:prstGeom>
          <a:gradFill>
            <a:gsLst>
              <a:gs pos="0">
                <a:srgbClr val="424242"/>
              </a:gs>
              <a:gs pos="100000">
                <a:srgbClr val="010101"/>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88" name="Google Shape;588;p61"/>
          <p:cNvSpPr txBox="1"/>
          <p:nvPr/>
        </p:nvSpPr>
        <p:spPr>
          <a:xfrm>
            <a:off x="881150" y="1294200"/>
            <a:ext cx="70824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Urbanist"/>
                <a:ea typeface="Urbanist"/>
                <a:cs typeface="Urbanist"/>
                <a:sym typeface="Urbanist"/>
              </a:rPr>
              <a:t>From the manager's perspective, interviews with Nick (COO) show that the managers avoid confronting poor performance in the fear of stirring up team conflicts and tensions. As a result, high performing workers realize that their higher effort and better performance does not lead to better rewards–decreasing their motivation. </a:t>
            </a:r>
            <a:endParaRPr>
              <a:solidFill>
                <a:schemeClr val="dk2"/>
              </a:solidFill>
              <a:latin typeface="Urbanist"/>
              <a:ea typeface="Urbanist"/>
              <a:cs typeface="Urbanist"/>
              <a:sym typeface="Urbanist"/>
            </a:endParaRPr>
          </a:p>
          <a:p>
            <a:pPr marL="0" lvl="0" indent="0" algn="l" rtl="0">
              <a:spcBef>
                <a:spcPts val="0"/>
              </a:spcBef>
              <a:spcAft>
                <a:spcPts val="0"/>
              </a:spcAft>
              <a:buNone/>
            </a:pPr>
            <a:endParaRPr>
              <a:solidFill>
                <a:schemeClr val="dk2"/>
              </a:solidFill>
              <a:latin typeface="Urbanist"/>
              <a:ea typeface="Urbanist"/>
              <a:cs typeface="Urbanist"/>
              <a:sym typeface="Urbanist"/>
            </a:endParaRPr>
          </a:p>
          <a:p>
            <a:pPr marL="457200" lvl="0" indent="-317500" algn="l" rtl="0">
              <a:spcBef>
                <a:spcPts val="0"/>
              </a:spcBef>
              <a:spcAft>
                <a:spcPts val="0"/>
              </a:spcAft>
              <a:buClr>
                <a:schemeClr val="dk2"/>
              </a:buClr>
              <a:buSzPts val="1400"/>
              <a:buFont typeface="Urbanist"/>
              <a:buChar char="●"/>
            </a:pPr>
            <a:r>
              <a:rPr lang="en">
                <a:solidFill>
                  <a:schemeClr val="dk2"/>
                </a:solidFill>
                <a:latin typeface="Urbanist"/>
                <a:ea typeface="Urbanist"/>
                <a:cs typeface="Urbanist"/>
                <a:sym typeface="Urbanist"/>
              </a:rPr>
              <a:t>This means that expectancy and instrumentality were both weakened, since there is no reward for increased efforts. Additionally, many employees stated of being burnt out during busy seasons and having decreased motivation during slow seasons, thus reducing the valence of the work itself.</a:t>
            </a:r>
            <a:endParaRPr>
              <a:solidFill>
                <a:schemeClr val="dk2"/>
              </a:solidFill>
              <a:latin typeface="Urbanist"/>
              <a:ea typeface="Urbanist"/>
              <a:cs typeface="Urbanist"/>
              <a:sym typeface="Urbanist"/>
            </a:endParaRPr>
          </a:p>
          <a:p>
            <a:pPr marL="0" lvl="0" indent="0" algn="l" rtl="0">
              <a:spcBef>
                <a:spcPts val="0"/>
              </a:spcBef>
              <a:spcAft>
                <a:spcPts val="0"/>
              </a:spcAft>
              <a:buNone/>
            </a:pPr>
            <a:endParaRPr>
              <a:solidFill>
                <a:schemeClr val="dk2"/>
              </a:solidFill>
              <a:latin typeface="Urbanist"/>
              <a:ea typeface="Urbanist"/>
              <a:cs typeface="Urbanist"/>
              <a:sym typeface="Urbanist"/>
            </a:endParaRPr>
          </a:p>
          <a:p>
            <a:pPr marL="0" lvl="0" indent="0" algn="l" rtl="0">
              <a:spcBef>
                <a:spcPts val="0"/>
              </a:spcBef>
              <a:spcAft>
                <a:spcPts val="0"/>
              </a:spcAft>
              <a:buNone/>
            </a:pPr>
            <a:endParaRPr>
              <a:solidFill>
                <a:schemeClr val="dk2"/>
              </a:solidFill>
              <a:latin typeface="Urbanist"/>
              <a:ea typeface="Urbanist"/>
              <a:cs typeface="Urbanist"/>
              <a:sym typeface="Urbanist"/>
            </a:endParaRPr>
          </a:p>
        </p:txBody>
      </p:sp>
      <p:sp>
        <p:nvSpPr>
          <p:cNvPr id="589" name="Google Shape;589;p61"/>
          <p:cNvSpPr txBox="1"/>
          <p:nvPr/>
        </p:nvSpPr>
        <p:spPr>
          <a:xfrm>
            <a:off x="960050" y="700350"/>
            <a:ext cx="4532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cxnSp>
        <p:nvCxnSpPr>
          <p:cNvPr id="594" name="Google Shape;594;p62"/>
          <p:cNvCxnSpPr/>
          <p:nvPr/>
        </p:nvCxnSpPr>
        <p:spPr>
          <a:xfrm>
            <a:off x="2184161" y="1517775"/>
            <a:ext cx="0" cy="3198900"/>
          </a:xfrm>
          <a:prstGeom prst="straightConnector1">
            <a:avLst/>
          </a:prstGeom>
          <a:noFill/>
          <a:ln w="9525" cap="flat" cmpd="sng">
            <a:solidFill>
              <a:schemeClr val="accent1"/>
            </a:solidFill>
            <a:prstDash val="solid"/>
            <a:round/>
            <a:headEnd type="none" w="med" len="med"/>
            <a:tailEnd type="none" w="med" len="med"/>
          </a:ln>
        </p:spPr>
      </p:cxnSp>
      <p:cxnSp>
        <p:nvCxnSpPr>
          <p:cNvPr id="595" name="Google Shape;595;p62"/>
          <p:cNvCxnSpPr/>
          <p:nvPr/>
        </p:nvCxnSpPr>
        <p:spPr>
          <a:xfrm>
            <a:off x="-62675" y="1485050"/>
            <a:ext cx="9006600" cy="31500"/>
          </a:xfrm>
          <a:prstGeom prst="straightConnector1">
            <a:avLst/>
          </a:prstGeom>
          <a:noFill/>
          <a:ln w="9525" cap="flat" cmpd="sng">
            <a:solidFill>
              <a:schemeClr val="accent1"/>
            </a:solidFill>
            <a:prstDash val="solid"/>
            <a:round/>
            <a:headEnd type="none" w="med" len="med"/>
            <a:tailEnd type="none" w="med" len="med"/>
          </a:ln>
        </p:spPr>
      </p:cxnSp>
      <p:cxnSp>
        <p:nvCxnSpPr>
          <p:cNvPr id="596" name="Google Shape;596;p62"/>
          <p:cNvCxnSpPr/>
          <p:nvPr/>
        </p:nvCxnSpPr>
        <p:spPr>
          <a:xfrm>
            <a:off x="4597717" y="1576400"/>
            <a:ext cx="0" cy="3198900"/>
          </a:xfrm>
          <a:prstGeom prst="straightConnector1">
            <a:avLst/>
          </a:prstGeom>
          <a:noFill/>
          <a:ln w="9525" cap="flat" cmpd="sng">
            <a:solidFill>
              <a:schemeClr val="accent1"/>
            </a:solidFill>
            <a:prstDash val="solid"/>
            <a:round/>
            <a:headEnd type="none" w="med" len="med"/>
            <a:tailEnd type="none" w="med" len="med"/>
          </a:ln>
        </p:spPr>
      </p:cxnSp>
      <p:grpSp>
        <p:nvGrpSpPr>
          <p:cNvPr id="597" name="Google Shape;597;p62"/>
          <p:cNvGrpSpPr/>
          <p:nvPr/>
        </p:nvGrpSpPr>
        <p:grpSpPr>
          <a:xfrm>
            <a:off x="1681518" y="1801500"/>
            <a:ext cx="204654" cy="204654"/>
            <a:chOff x="259788" y="1923155"/>
            <a:chExt cx="409800" cy="409800"/>
          </a:xfrm>
        </p:grpSpPr>
        <p:sp>
          <p:nvSpPr>
            <p:cNvPr id="598" name="Google Shape;598;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99" name="Google Shape;599;p62"/>
            <p:cNvGrpSpPr/>
            <p:nvPr/>
          </p:nvGrpSpPr>
          <p:grpSpPr>
            <a:xfrm>
              <a:off x="362088" y="2093825"/>
              <a:ext cx="205200" cy="102600"/>
              <a:chOff x="498725" y="2069800"/>
              <a:chExt cx="205200" cy="102600"/>
            </a:xfrm>
          </p:grpSpPr>
          <p:cxnSp>
            <p:nvCxnSpPr>
              <p:cNvPr id="600" name="Google Shape;600;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1" name="Google Shape;601;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2" name="Google Shape;602;p62"/>
          <p:cNvGrpSpPr/>
          <p:nvPr/>
        </p:nvGrpSpPr>
        <p:grpSpPr>
          <a:xfrm>
            <a:off x="4097493" y="1793075"/>
            <a:ext cx="204654" cy="204654"/>
            <a:chOff x="259788" y="1923155"/>
            <a:chExt cx="409800" cy="409800"/>
          </a:xfrm>
        </p:grpSpPr>
        <p:sp>
          <p:nvSpPr>
            <p:cNvPr id="603" name="Google Shape;603;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4" name="Google Shape;604;p62"/>
            <p:cNvGrpSpPr/>
            <p:nvPr/>
          </p:nvGrpSpPr>
          <p:grpSpPr>
            <a:xfrm>
              <a:off x="362088" y="2093825"/>
              <a:ext cx="205200" cy="102600"/>
              <a:chOff x="498725" y="2069800"/>
              <a:chExt cx="205200" cy="102600"/>
            </a:xfrm>
          </p:grpSpPr>
          <p:cxnSp>
            <p:nvCxnSpPr>
              <p:cNvPr id="605" name="Google Shape;605;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6" name="Google Shape;606;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7" name="Google Shape;607;p62"/>
          <p:cNvGrpSpPr/>
          <p:nvPr/>
        </p:nvGrpSpPr>
        <p:grpSpPr>
          <a:xfrm>
            <a:off x="6513481" y="1790963"/>
            <a:ext cx="204654" cy="204654"/>
            <a:chOff x="259788" y="1923155"/>
            <a:chExt cx="409800" cy="409800"/>
          </a:xfrm>
        </p:grpSpPr>
        <p:sp>
          <p:nvSpPr>
            <p:cNvPr id="608" name="Google Shape;608;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9" name="Google Shape;609;p62"/>
            <p:cNvGrpSpPr/>
            <p:nvPr/>
          </p:nvGrpSpPr>
          <p:grpSpPr>
            <a:xfrm>
              <a:off x="362088" y="2093825"/>
              <a:ext cx="205200" cy="102600"/>
              <a:chOff x="498725" y="2069800"/>
              <a:chExt cx="205200" cy="102600"/>
            </a:xfrm>
          </p:grpSpPr>
          <p:cxnSp>
            <p:nvCxnSpPr>
              <p:cNvPr id="610" name="Google Shape;610;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11" name="Google Shape;611;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sp>
        <p:nvSpPr>
          <p:cNvPr id="612" name="Google Shape;612;p62"/>
          <p:cNvSpPr txBox="1">
            <a:spLocks noGrp="1"/>
          </p:cNvSpPr>
          <p:nvPr>
            <p:ph type="title"/>
          </p:nvPr>
        </p:nvSpPr>
        <p:spPr>
          <a:xfrm>
            <a:off x="186600" y="136475"/>
            <a:ext cx="8676900" cy="406200"/>
          </a:xfrm>
          <a:prstGeom prst="rect">
            <a:avLst/>
          </a:prstGeom>
        </p:spPr>
        <p:txBody>
          <a:bodyPr spcFirstLastPara="1" wrap="square" lIns="0" tIns="0" rIns="91425" bIns="91425" anchor="t" anchorCtr="0">
            <a:spAutoFit/>
          </a:bodyPr>
          <a:lstStyle/>
          <a:p>
            <a:pPr marL="0" lvl="0" indent="0" algn="l" rtl="0">
              <a:spcBef>
                <a:spcPts val="0"/>
              </a:spcBef>
              <a:spcAft>
                <a:spcPts val="0"/>
              </a:spcAft>
              <a:buClr>
                <a:schemeClr val="dk1"/>
              </a:buClr>
              <a:buSzPts val="1100"/>
              <a:buNone/>
            </a:pPr>
            <a:r>
              <a:rPr lang="en"/>
              <a:t>Output Problem #2 - Team Effectiveness Model</a:t>
            </a:r>
            <a:endParaRPr/>
          </a:p>
        </p:txBody>
      </p:sp>
      <p:sp>
        <p:nvSpPr>
          <p:cNvPr id="613" name="Google Shape;613;p62"/>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4200"/>
              <a:t>1</a:t>
            </a:r>
            <a:endParaRPr sz="4200"/>
          </a:p>
        </p:txBody>
      </p:sp>
      <p:sp>
        <p:nvSpPr>
          <p:cNvPr id="614" name="Google Shape;614;p62"/>
          <p:cNvSpPr txBox="1">
            <a:spLocks noGrp="1"/>
          </p:cNvSpPr>
          <p:nvPr>
            <p:ph type="subTitle" idx="6"/>
          </p:nvPr>
        </p:nvSpPr>
        <p:spPr>
          <a:xfrm>
            <a:off x="2369125"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4200"/>
              <a:t>2</a:t>
            </a:r>
            <a:endParaRPr sz="4200"/>
          </a:p>
        </p:txBody>
      </p:sp>
      <p:sp>
        <p:nvSpPr>
          <p:cNvPr id="615" name="Google Shape;615;p62"/>
          <p:cNvSpPr txBox="1">
            <a:spLocks noGrp="1"/>
          </p:cNvSpPr>
          <p:nvPr>
            <p:ph type="subTitle" idx="7"/>
          </p:nvPr>
        </p:nvSpPr>
        <p:spPr>
          <a:xfrm>
            <a:off x="4734150"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4200"/>
              <a:t>3</a:t>
            </a:r>
            <a:endParaRPr sz="4200"/>
          </a:p>
        </p:txBody>
      </p:sp>
      <p:sp>
        <p:nvSpPr>
          <p:cNvPr id="616" name="Google Shape;616;p62"/>
          <p:cNvSpPr txBox="1">
            <a:spLocks noGrp="1"/>
          </p:cNvSpPr>
          <p:nvPr>
            <p:ph type="body" idx="8"/>
          </p:nvPr>
        </p:nvSpPr>
        <p:spPr>
          <a:xfrm>
            <a:off x="147000" y="2493100"/>
            <a:ext cx="1929300" cy="20031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b="1"/>
              <a:t>Context</a:t>
            </a: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
              <a:t>Leadership clarity, communication, and reward systems.</a:t>
            </a:r>
            <a:endParaRPr sz="1000"/>
          </a:p>
        </p:txBody>
      </p:sp>
      <p:sp>
        <p:nvSpPr>
          <p:cNvPr id="617" name="Google Shape;617;p62"/>
          <p:cNvSpPr txBox="1">
            <a:spLocks noGrp="1"/>
          </p:cNvSpPr>
          <p:nvPr>
            <p:ph type="body" idx="9"/>
          </p:nvPr>
        </p:nvSpPr>
        <p:spPr>
          <a:xfrm>
            <a:off x="4716751" y="2948352"/>
            <a:ext cx="1780500" cy="13749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b="1"/>
              <a:t>Work Design</a:t>
            </a: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
              <a:t>Autonomy, skill variety, and task significance</a:t>
            </a:r>
            <a:endParaRPr/>
          </a:p>
        </p:txBody>
      </p:sp>
      <p:sp>
        <p:nvSpPr>
          <p:cNvPr id="618" name="Google Shape;618;p62"/>
          <p:cNvSpPr txBox="1">
            <a:spLocks noGrp="1"/>
          </p:cNvSpPr>
          <p:nvPr>
            <p:ph type="body" idx="13"/>
          </p:nvPr>
        </p:nvSpPr>
        <p:spPr>
          <a:xfrm>
            <a:off x="2292000" y="3676850"/>
            <a:ext cx="1842600" cy="1188300"/>
          </a:xfrm>
          <a:prstGeom prst="rect">
            <a:avLst/>
          </a:prstGeom>
        </p:spPr>
        <p:txBody>
          <a:bodyPr spcFirstLastPara="1" wrap="square" lIns="0" tIns="0" rIns="91425" bIns="91425" anchor="b" anchorCtr="0">
            <a:noAutofit/>
          </a:bodyPr>
          <a:lstStyle/>
          <a:p>
            <a:pPr marL="0" lvl="0" indent="0" algn="l" rtl="0">
              <a:lnSpc>
                <a:spcPct val="100000"/>
              </a:lnSpc>
              <a:spcBef>
                <a:spcPts val="0"/>
              </a:spcBef>
              <a:spcAft>
                <a:spcPts val="0"/>
              </a:spcAft>
              <a:buClr>
                <a:schemeClr val="dk1"/>
              </a:buClr>
              <a:buSzPts val="1100"/>
              <a:buFont typeface="Arial"/>
              <a:buNone/>
            </a:pPr>
            <a:r>
              <a:rPr lang="en" b="1">
                <a:solidFill>
                  <a:schemeClr val="dk2"/>
                </a:solidFill>
              </a:rPr>
              <a:t>Composition</a:t>
            </a:r>
            <a:endParaRPr b="1">
              <a:solidFill>
                <a:schemeClr val="dk2"/>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2"/>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2"/>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2"/>
                </a:solidFill>
                <a:latin typeface="Urbanist Medium"/>
                <a:ea typeface="Urbanist Medium"/>
                <a:cs typeface="Urbanist Medium"/>
                <a:sym typeface="Urbanist Medium"/>
              </a:rPr>
              <a:t>Team diversity, skills, roles, and member characteristics</a:t>
            </a:r>
            <a:endParaRPr>
              <a:solidFill>
                <a:schemeClr val="dk2"/>
              </a:solidFill>
              <a:latin typeface="Urbanist Medium"/>
              <a:ea typeface="Urbanist Medium"/>
              <a:cs typeface="Urbanist Medium"/>
              <a:sym typeface="Urbanist Medium"/>
            </a:endParaRPr>
          </a:p>
          <a:p>
            <a:pPr marL="0" lvl="0" indent="0" algn="l" rtl="0">
              <a:lnSpc>
                <a:spcPct val="100000"/>
              </a:lnSpc>
              <a:spcBef>
                <a:spcPts val="0"/>
              </a:spcBef>
              <a:spcAft>
                <a:spcPts val="0"/>
              </a:spcAft>
              <a:buClr>
                <a:schemeClr val="dk1"/>
              </a:buClr>
              <a:buSzPts val="1100"/>
              <a:buFont typeface="Arial"/>
              <a:buNone/>
            </a:pPr>
            <a:endParaRPr sz="1400" b="1">
              <a:solidFill>
                <a:schemeClr val="dk2"/>
              </a:solidFill>
            </a:endParaRPr>
          </a:p>
          <a:p>
            <a:pPr marL="0" lvl="0" indent="0" algn="l" rtl="0">
              <a:spcBef>
                <a:spcPts val="0"/>
              </a:spcBef>
              <a:spcAft>
                <a:spcPts val="0"/>
              </a:spcAft>
              <a:buClr>
                <a:schemeClr val="dk1"/>
              </a:buClr>
              <a:buSzPts val="1100"/>
              <a:buNone/>
            </a:pPr>
            <a:endParaRPr>
              <a:solidFill>
                <a:schemeClr val="dk2"/>
              </a:solidFill>
              <a:latin typeface="Urbanist Medium"/>
              <a:ea typeface="Urbanist Medium"/>
              <a:cs typeface="Urbanist Medium"/>
              <a:sym typeface="Urbanist Medium"/>
            </a:endParaRPr>
          </a:p>
        </p:txBody>
      </p:sp>
      <p:sp>
        <p:nvSpPr>
          <p:cNvPr id="619" name="Google Shape;619;p62"/>
          <p:cNvSpPr/>
          <p:nvPr/>
        </p:nvSpPr>
        <p:spPr>
          <a:xfrm>
            <a:off x="186600" y="575425"/>
            <a:ext cx="7843800" cy="8769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Urbanist"/>
                <a:ea typeface="Urbanist"/>
                <a:cs typeface="Urbanist"/>
                <a:sym typeface="Urbanist"/>
              </a:rPr>
              <a:t>A Team Effectiveness Model is a framework to help organizations understand and improve how teams perform to reach their goals. The Team Effectiveness Model states that team performance depends on four different components. </a:t>
            </a:r>
            <a:endParaRPr>
              <a:solidFill>
                <a:schemeClr val="lt1"/>
              </a:solidFill>
              <a:latin typeface="Urbanist"/>
              <a:ea typeface="Urbanist"/>
              <a:cs typeface="Urbanist"/>
              <a:sym typeface="Urbanist"/>
            </a:endParaRPr>
          </a:p>
        </p:txBody>
      </p:sp>
      <p:cxnSp>
        <p:nvCxnSpPr>
          <p:cNvPr id="620" name="Google Shape;620;p62"/>
          <p:cNvCxnSpPr/>
          <p:nvPr/>
        </p:nvCxnSpPr>
        <p:spPr>
          <a:xfrm>
            <a:off x="6936492" y="1485075"/>
            <a:ext cx="0" cy="3198900"/>
          </a:xfrm>
          <a:prstGeom prst="straightConnector1">
            <a:avLst/>
          </a:prstGeom>
          <a:noFill/>
          <a:ln w="9525" cap="flat" cmpd="sng">
            <a:solidFill>
              <a:schemeClr val="accent1"/>
            </a:solidFill>
            <a:prstDash val="solid"/>
            <a:round/>
            <a:headEnd type="none" w="med" len="med"/>
            <a:tailEnd type="none" w="med" len="med"/>
          </a:ln>
        </p:spPr>
      </p:cxnSp>
      <p:grpSp>
        <p:nvGrpSpPr>
          <p:cNvPr id="621" name="Google Shape;621;p62"/>
          <p:cNvGrpSpPr/>
          <p:nvPr/>
        </p:nvGrpSpPr>
        <p:grpSpPr>
          <a:xfrm>
            <a:off x="8658856" y="1790950"/>
            <a:ext cx="204654" cy="204654"/>
            <a:chOff x="259788" y="1923155"/>
            <a:chExt cx="409800" cy="409800"/>
          </a:xfrm>
        </p:grpSpPr>
        <p:sp>
          <p:nvSpPr>
            <p:cNvPr id="622" name="Google Shape;622;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23" name="Google Shape;623;p62"/>
            <p:cNvGrpSpPr/>
            <p:nvPr/>
          </p:nvGrpSpPr>
          <p:grpSpPr>
            <a:xfrm>
              <a:off x="362088" y="2093825"/>
              <a:ext cx="205200" cy="102600"/>
              <a:chOff x="498725" y="2069800"/>
              <a:chExt cx="205200" cy="102600"/>
            </a:xfrm>
          </p:grpSpPr>
          <p:cxnSp>
            <p:nvCxnSpPr>
              <p:cNvPr id="624" name="Google Shape;624;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25" name="Google Shape;625;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sp>
        <p:nvSpPr>
          <p:cNvPr id="626" name="Google Shape;626;p62"/>
          <p:cNvSpPr txBox="1">
            <a:spLocks noGrp="1"/>
          </p:cNvSpPr>
          <p:nvPr>
            <p:ph type="subTitle" idx="7"/>
          </p:nvPr>
        </p:nvSpPr>
        <p:spPr>
          <a:xfrm>
            <a:off x="7050625" y="1638300"/>
            <a:ext cx="11289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4200"/>
              <a:t>4</a:t>
            </a:r>
            <a:endParaRPr sz="4200"/>
          </a:p>
        </p:txBody>
      </p:sp>
      <p:sp>
        <p:nvSpPr>
          <p:cNvPr id="627" name="Google Shape;627;p62"/>
          <p:cNvSpPr txBox="1">
            <a:spLocks noGrp="1"/>
          </p:cNvSpPr>
          <p:nvPr>
            <p:ph type="body" idx="9"/>
          </p:nvPr>
        </p:nvSpPr>
        <p:spPr>
          <a:xfrm>
            <a:off x="7079400" y="3121300"/>
            <a:ext cx="1929300" cy="13749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b="1"/>
              <a:t>Process</a:t>
            </a:r>
            <a:endParaRPr b="1"/>
          </a:p>
          <a:p>
            <a:pPr marL="0" lvl="0" indent="0" algn="l" rtl="0">
              <a:spcBef>
                <a:spcPts val="0"/>
              </a:spcBef>
              <a:spcAft>
                <a:spcPts val="0"/>
              </a:spcAft>
              <a:buNone/>
            </a:pPr>
            <a:endParaRPr b="1"/>
          </a:p>
          <a:p>
            <a:pPr marL="0" lvl="0" indent="0" algn="l" rtl="0">
              <a:spcBef>
                <a:spcPts val="0"/>
              </a:spcBef>
              <a:spcAft>
                <a:spcPts val="0"/>
              </a:spcAft>
              <a:buNone/>
            </a:pPr>
            <a:endParaRPr b="1"/>
          </a:p>
          <a:p>
            <a:pPr marL="0" lvl="0" indent="0" algn="l" rtl="0">
              <a:spcBef>
                <a:spcPts val="0"/>
              </a:spcBef>
              <a:spcAft>
                <a:spcPts val="0"/>
              </a:spcAft>
              <a:buNone/>
            </a:pPr>
            <a:r>
              <a:rPr lang="en"/>
              <a:t>Shared SMART goals, good communication, and conflict management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63"/>
          <p:cNvSpPr txBox="1">
            <a:spLocks noGrp="1"/>
          </p:cNvSpPr>
          <p:nvPr>
            <p:ph type="title"/>
          </p:nvPr>
        </p:nvSpPr>
        <p:spPr>
          <a:xfrm>
            <a:off x="182925" y="369300"/>
            <a:ext cx="6480300" cy="6558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a:t>Connection to NMBC</a:t>
            </a:r>
            <a:endParaRPr/>
          </a:p>
        </p:txBody>
      </p:sp>
      <p:sp>
        <p:nvSpPr>
          <p:cNvPr id="633" name="Google Shape;633;p63"/>
          <p:cNvSpPr txBox="1">
            <a:spLocks noGrp="1"/>
          </p:cNvSpPr>
          <p:nvPr>
            <p:ph type="subTitle" idx="8"/>
          </p:nvPr>
        </p:nvSpPr>
        <p:spPr>
          <a:xfrm>
            <a:off x="238800" y="2028175"/>
            <a:ext cx="8905200" cy="2150100"/>
          </a:xfrm>
          <a:prstGeom prst="rect">
            <a:avLst/>
          </a:prstGeom>
        </p:spPr>
        <p:txBody>
          <a:bodyPr spcFirstLastPara="1" wrap="square" lIns="0" tIns="0" rIns="91425" bIns="91425" anchor="t" anchorCtr="0">
            <a:noAutofit/>
          </a:bodyPr>
          <a:lstStyle/>
          <a:p>
            <a:pPr marL="457200" lvl="0" indent="-342900" algn="l" rtl="0">
              <a:spcBef>
                <a:spcPts val="0"/>
              </a:spcBef>
              <a:spcAft>
                <a:spcPts val="0"/>
              </a:spcAft>
              <a:buSzPts val="1800"/>
              <a:buChar char="-"/>
            </a:pPr>
            <a:r>
              <a:rPr lang="en"/>
              <a:t>NMBC’s output problems are linked to weak leadership clarity, peer-like management, and no reinforced performance standard. </a:t>
            </a:r>
            <a:endParaRPr/>
          </a:p>
          <a:p>
            <a:pPr marL="457200" lvl="0" indent="-342900" algn="l" rtl="0">
              <a:spcBef>
                <a:spcPts val="0"/>
              </a:spcBef>
              <a:spcAft>
                <a:spcPts val="0"/>
              </a:spcAft>
              <a:buSzPts val="1800"/>
              <a:buChar char="-"/>
            </a:pPr>
            <a:r>
              <a:rPr lang="en"/>
              <a:t>Uneven skill levels reduce accountability and teamwork.</a:t>
            </a:r>
            <a:endParaRPr/>
          </a:p>
          <a:p>
            <a:pPr marL="457200" lvl="0" indent="-342900" algn="l" rtl="0">
              <a:spcBef>
                <a:spcPts val="0"/>
              </a:spcBef>
              <a:spcAft>
                <a:spcPts val="0"/>
              </a:spcAft>
              <a:buSzPts val="1800"/>
              <a:buChar char="-"/>
            </a:pPr>
            <a:r>
              <a:rPr lang="en"/>
              <a:t>Lack of structured training and unclear goals undermine work design and process.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4"/>
          <p:cNvSpPr txBox="1">
            <a:spLocks noGrp="1"/>
          </p:cNvSpPr>
          <p:nvPr>
            <p:ph type="title"/>
          </p:nvPr>
        </p:nvSpPr>
        <p:spPr>
          <a:xfrm>
            <a:off x="228600" y="369300"/>
            <a:ext cx="6480300" cy="6558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a:t>Connection to NMBC</a:t>
            </a:r>
            <a:endParaRPr/>
          </a:p>
        </p:txBody>
      </p:sp>
      <p:sp>
        <p:nvSpPr>
          <p:cNvPr id="639" name="Google Shape;639;p64"/>
          <p:cNvSpPr txBox="1">
            <a:spLocks noGrp="1"/>
          </p:cNvSpPr>
          <p:nvPr>
            <p:ph type="subTitle" idx="8"/>
          </p:nvPr>
        </p:nvSpPr>
        <p:spPr>
          <a:xfrm>
            <a:off x="238800" y="1251625"/>
            <a:ext cx="8842200" cy="29268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700"/>
              <a:t>Leadership</a:t>
            </a:r>
            <a:endParaRPr sz="1700"/>
          </a:p>
          <a:p>
            <a:pPr marL="457200" lvl="0" indent="-336550" algn="l" rtl="0">
              <a:spcBef>
                <a:spcPts val="0"/>
              </a:spcBef>
              <a:spcAft>
                <a:spcPts val="0"/>
              </a:spcAft>
              <a:buClr>
                <a:schemeClr val="lt1"/>
              </a:buClr>
              <a:buSzPts val="1700"/>
              <a:buChar char="-"/>
            </a:pPr>
            <a:r>
              <a:rPr lang="en" sz="1700">
                <a:solidFill>
                  <a:schemeClr val="lt1"/>
                </a:solidFill>
              </a:rPr>
              <a:t>Employees described the workplace as “peer- like,” with managers acting more like friends than subordinates.</a:t>
            </a:r>
            <a:endParaRPr sz="1700">
              <a:solidFill>
                <a:schemeClr val="lt1"/>
              </a:solidFill>
            </a:endParaRPr>
          </a:p>
          <a:p>
            <a:pPr marL="457200" lvl="0" indent="-336550" algn="l" rtl="0">
              <a:spcBef>
                <a:spcPts val="0"/>
              </a:spcBef>
              <a:spcAft>
                <a:spcPts val="0"/>
              </a:spcAft>
              <a:buClr>
                <a:schemeClr val="lt1"/>
              </a:buClr>
              <a:buSzPts val="1700"/>
              <a:buChar char="-"/>
            </a:pPr>
            <a:r>
              <a:rPr lang="en" sz="1700">
                <a:solidFill>
                  <a:schemeClr val="lt1"/>
                </a:solidFill>
              </a:rPr>
              <a:t>Rules are not enforced, and poor performance is rarely confronted.</a:t>
            </a:r>
            <a:endParaRPr sz="1700">
              <a:solidFill>
                <a:schemeClr val="lt1"/>
              </a:solidFill>
            </a:endParaRPr>
          </a:p>
          <a:p>
            <a:pPr marL="457200" lvl="0" indent="-336550" algn="l" rtl="0">
              <a:spcBef>
                <a:spcPts val="0"/>
              </a:spcBef>
              <a:spcAft>
                <a:spcPts val="0"/>
              </a:spcAft>
              <a:buClr>
                <a:schemeClr val="lt1"/>
              </a:buClr>
              <a:buSzPts val="1700"/>
              <a:buChar char="-"/>
            </a:pPr>
            <a:r>
              <a:rPr lang="en" sz="1700">
                <a:solidFill>
                  <a:schemeClr val="lt1"/>
                </a:solidFill>
              </a:rPr>
              <a:t>Line staff notes confusion about scheduling, unclear expectations, and inconsistent instructions</a:t>
            </a:r>
            <a:endParaRPr sz="1700">
              <a:solidFill>
                <a:schemeClr val="lt1"/>
              </a:solidFill>
            </a:endParaRPr>
          </a:p>
          <a:p>
            <a:pPr marL="0" lvl="0" indent="0" algn="l" rtl="0">
              <a:spcBef>
                <a:spcPts val="0"/>
              </a:spcBef>
              <a:spcAft>
                <a:spcPts val="0"/>
              </a:spcAft>
              <a:buNone/>
            </a:pPr>
            <a:r>
              <a:rPr lang="en" sz="1700"/>
              <a:t>Composition</a:t>
            </a:r>
            <a:endParaRPr sz="1700"/>
          </a:p>
          <a:p>
            <a:pPr marL="457200" lvl="0" indent="-336550" algn="l" rtl="0">
              <a:spcBef>
                <a:spcPts val="0"/>
              </a:spcBef>
              <a:spcAft>
                <a:spcPts val="0"/>
              </a:spcAft>
              <a:buClr>
                <a:schemeClr val="lt1"/>
              </a:buClr>
              <a:buSzPts val="1700"/>
              <a:buChar char="-"/>
            </a:pPr>
            <a:r>
              <a:rPr lang="en" sz="1700">
                <a:solidFill>
                  <a:schemeClr val="lt1"/>
                </a:solidFill>
              </a:rPr>
              <a:t>Employees hesitate to hold peers accountable due to friendships and age similarities. </a:t>
            </a:r>
            <a:endParaRPr sz="1700">
              <a:solidFill>
                <a:schemeClr val="lt1"/>
              </a:solidFill>
            </a:endParaRPr>
          </a:p>
          <a:p>
            <a:pPr marL="457200" lvl="0" indent="-336550" algn="l" rtl="0">
              <a:spcBef>
                <a:spcPts val="0"/>
              </a:spcBef>
              <a:spcAft>
                <a:spcPts val="0"/>
              </a:spcAft>
              <a:buClr>
                <a:schemeClr val="lt1"/>
              </a:buClr>
              <a:buSzPts val="1700"/>
              <a:buChar char="-"/>
            </a:pPr>
            <a:r>
              <a:rPr lang="en" sz="1700">
                <a:solidFill>
                  <a:schemeClr val="lt1"/>
                </a:solidFill>
              </a:rPr>
              <a:t>Experienced workers like Zach felt like they were carrying disproportionate workload.</a:t>
            </a:r>
            <a:endParaRPr sz="1700">
              <a:solidFill>
                <a:schemeClr val="lt1"/>
              </a:solidFill>
            </a:endParaRPr>
          </a:p>
          <a:p>
            <a:pPr marL="457200" lvl="0" indent="-336550" algn="l" rtl="0">
              <a:spcBef>
                <a:spcPts val="0"/>
              </a:spcBef>
              <a:spcAft>
                <a:spcPts val="0"/>
              </a:spcAft>
              <a:buClr>
                <a:schemeClr val="lt1"/>
              </a:buClr>
              <a:buSzPts val="1700"/>
              <a:buChar char="-"/>
            </a:pPr>
            <a:r>
              <a:rPr lang="en" sz="1700">
                <a:solidFill>
                  <a:schemeClr val="lt1"/>
                </a:solidFill>
              </a:rPr>
              <a:t>Newer workers like Carson reported feeling under-trained and unsure of expectations.</a:t>
            </a:r>
            <a:endParaRPr sz="17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65"/>
          <p:cNvSpPr txBox="1">
            <a:spLocks noGrp="1"/>
          </p:cNvSpPr>
          <p:nvPr>
            <p:ph type="title"/>
          </p:nvPr>
        </p:nvSpPr>
        <p:spPr>
          <a:xfrm>
            <a:off x="228600" y="369300"/>
            <a:ext cx="6480300" cy="6558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a:t>Connection to NMBC</a:t>
            </a:r>
            <a:endParaRPr/>
          </a:p>
        </p:txBody>
      </p:sp>
      <p:sp>
        <p:nvSpPr>
          <p:cNvPr id="645" name="Google Shape;645;p65"/>
          <p:cNvSpPr txBox="1">
            <a:spLocks noGrp="1"/>
          </p:cNvSpPr>
          <p:nvPr>
            <p:ph type="subTitle" idx="8"/>
          </p:nvPr>
        </p:nvSpPr>
        <p:spPr>
          <a:xfrm>
            <a:off x="238800" y="1352100"/>
            <a:ext cx="8586600" cy="33315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600"/>
              <a:t>Work Design</a:t>
            </a:r>
            <a:endParaRPr sz="1600"/>
          </a:p>
          <a:p>
            <a:pPr marL="457200" lvl="0" indent="-330200" algn="l" rtl="0">
              <a:spcBef>
                <a:spcPts val="0"/>
              </a:spcBef>
              <a:spcAft>
                <a:spcPts val="0"/>
              </a:spcAft>
              <a:buClr>
                <a:schemeClr val="lt1"/>
              </a:buClr>
              <a:buSzPts val="1600"/>
              <a:buChar char="-"/>
            </a:pPr>
            <a:r>
              <a:rPr lang="en" sz="1600">
                <a:solidFill>
                  <a:schemeClr val="lt1"/>
                </a:solidFill>
              </a:rPr>
              <a:t>New employees often “figure it out on the job” reducing consistent performance.</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Lack of structured training limits skill development and makes newer workers less confident.</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Experienced workers have autonomy, but task significance decreases when others do not contribute equally. </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Uneven workload distribution causes frustration and reduces productivity.</a:t>
            </a:r>
            <a:endParaRPr sz="1600">
              <a:solidFill>
                <a:schemeClr val="lt1"/>
              </a:solidFill>
            </a:endParaRPr>
          </a:p>
          <a:p>
            <a:pPr marL="0" lvl="0" indent="0" algn="l" rtl="0">
              <a:spcBef>
                <a:spcPts val="0"/>
              </a:spcBef>
              <a:spcAft>
                <a:spcPts val="0"/>
              </a:spcAft>
              <a:buNone/>
            </a:pPr>
            <a:r>
              <a:rPr lang="en" sz="1600"/>
              <a:t>Process</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Employees reported that peak season felt like “getting through the day”, not working toward shared goals.</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Team goals are not clear or “SMART”, reducing cohesion.</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Conflicts are avoided, not addressed, due to friendships.</a:t>
            </a:r>
            <a:endParaRPr sz="1600">
              <a:solidFill>
                <a:schemeClr val="lt1"/>
              </a:solidFill>
            </a:endParaRPr>
          </a:p>
          <a:p>
            <a:pPr marL="457200" lvl="0" indent="-330200" algn="l" rtl="0">
              <a:spcBef>
                <a:spcPts val="0"/>
              </a:spcBef>
              <a:spcAft>
                <a:spcPts val="0"/>
              </a:spcAft>
              <a:buClr>
                <a:schemeClr val="lt1"/>
              </a:buClr>
              <a:buSzPts val="1600"/>
              <a:buChar char="-"/>
            </a:pPr>
            <a:r>
              <a:rPr lang="en" sz="1600">
                <a:solidFill>
                  <a:schemeClr val="lt1"/>
                </a:solidFill>
              </a:rPr>
              <a:t>Communication gaps and sudden changes disrupt coordination during busy periods.</a:t>
            </a:r>
            <a:endParaRPr sz="1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66"/>
          <p:cNvSpPr/>
          <p:nvPr/>
        </p:nvSpPr>
        <p:spPr>
          <a:xfrm>
            <a:off x="5815550" y="1292250"/>
            <a:ext cx="3181200" cy="34299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651" name="Google Shape;651;p66"/>
          <p:cNvSpPr/>
          <p:nvPr/>
        </p:nvSpPr>
        <p:spPr>
          <a:xfrm>
            <a:off x="393000" y="1292250"/>
            <a:ext cx="5340600" cy="3474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52" name="Google Shape;652;p66"/>
          <p:cNvSpPr txBox="1">
            <a:spLocks noGrp="1"/>
          </p:cNvSpPr>
          <p:nvPr>
            <p:ph type="body" idx="1"/>
          </p:nvPr>
        </p:nvSpPr>
        <p:spPr>
          <a:xfrm>
            <a:off x="310200" y="1567325"/>
            <a:ext cx="5506200" cy="31164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a:t>After conducting one-on-one meetings with staff and managers, a recurring suggestion was that managers, particularly Nick, need to adopt a more authoritative leadership approach.</a:t>
            </a:r>
            <a:endParaRPr/>
          </a:p>
          <a:p>
            <a:pPr marL="0" lvl="0" indent="0" algn="l" rtl="0">
              <a:spcBef>
                <a:spcPts val="800"/>
              </a:spcBef>
              <a:spcAft>
                <a:spcPts val="0"/>
              </a:spcAft>
              <a:buNone/>
            </a:pPr>
            <a:endParaRPr/>
          </a:p>
          <a:p>
            <a:pPr marL="457200" lvl="0" indent="-304800" algn="l" rtl="0">
              <a:spcBef>
                <a:spcPts val="800"/>
              </a:spcBef>
              <a:spcAft>
                <a:spcPts val="0"/>
              </a:spcAft>
              <a:buSzPts val="1200"/>
              <a:buChar char="●"/>
            </a:pPr>
            <a:r>
              <a:rPr lang="en"/>
              <a:t>Team effectiveness suffered due to the company’s struggles with implementing autonomy. Although Nick was physically present, he did not actively supervise staff, address concerns, or engage with daily operations.</a:t>
            </a:r>
            <a:endParaRPr/>
          </a:p>
          <a:p>
            <a:pPr marL="0" lvl="0" indent="0" algn="l" rtl="0">
              <a:spcBef>
                <a:spcPts val="800"/>
              </a:spcBef>
              <a:spcAft>
                <a:spcPts val="0"/>
              </a:spcAft>
              <a:buNone/>
            </a:pPr>
            <a:endParaRPr/>
          </a:p>
          <a:p>
            <a:pPr marL="457200" lvl="0" indent="-304800" algn="l" rtl="0">
              <a:spcBef>
                <a:spcPts val="800"/>
              </a:spcBef>
              <a:spcAft>
                <a:spcPts val="0"/>
              </a:spcAft>
              <a:buSzPts val="1200"/>
              <a:buChar char="●"/>
            </a:pPr>
            <a:r>
              <a:rPr lang="en"/>
              <a:t>Employees took advantage of this lack of oversight, using work hours to slack off without fear of consequences because they knew complaints rarely resulted in action.</a:t>
            </a:r>
            <a:endParaRPr/>
          </a:p>
        </p:txBody>
      </p:sp>
      <p:sp>
        <p:nvSpPr>
          <p:cNvPr id="653" name="Google Shape;653;p6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First Recommendation </a:t>
            </a:r>
            <a:endParaRPr/>
          </a:p>
        </p:txBody>
      </p:sp>
      <p:sp>
        <p:nvSpPr>
          <p:cNvPr id="654" name="Google Shape;654;p66"/>
          <p:cNvSpPr txBox="1">
            <a:spLocks noGrp="1"/>
          </p:cNvSpPr>
          <p:nvPr>
            <p:ph type="body" idx="6"/>
          </p:nvPr>
        </p:nvSpPr>
        <p:spPr>
          <a:xfrm>
            <a:off x="5672175" y="1649850"/>
            <a:ext cx="3127800" cy="31164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a:t>Hold weekly staff meetings to discuss concerns, progress, and expectations.</a:t>
            </a:r>
            <a:endParaRPr/>
          </a:p>
          <a:p>
            <a:pPr marL="0" lvl="0" indent="0" algn="l" rtl="0">
              <a:spcBef>
                <a:spcPts val="0"/>
              </a:spcBef>
              <a:spcAft>
                <a:spcPts val="0"/>
              </a:spcAft>
              <a:buNone/>
            </a:pPr>
            <a:endParaRPr/>
          </a:p>
          <a:p>
            <a:pPr marL="457200" lvl="0" indent="-304800" algn="l" rtl="0">
              <a:spcBef>
                <a:spcPts val="0"/>
              </a:spcBef>
              <a:spcAft>
                <a:spcPts val="0"/>
              </a:spcAft>
              <a:buSzPts val="1200"/>
              <a:buChar char="●"/>
            </a:pPr>
            <a:r>
              <a:rPr lang="en"/>
              <a:t>Have Nick regularly walk around the office and assist with moves to increase visibility and accountability.</a:t>
            </a:r>
            <a:endParaRPr/>
          </a:p>
          <a:p>
            <a:pPr marL="0" lvl="0" indent="0" algn="l" rtl="0">
              <a:spcBef>
                <a:spcPts val="0"/>
              </a:spcBef>
              <a:spcAft>
                <a:spcPts val="0"/>
              </a:spcAft>
              <a:buNone/>
            </a:pPr>
            <a:endParaRPr/>
          </a:p>
          <a:p>
            <a:pPr marL="457200" lvl="0" indent="-304800" algn="l" rtl="0">
              <a:spcBef>
                <a:spcPts val="0"/>
              </a:spcBef>
              <a:spcAft>
                <a:spcPts val="0"/>
              </a:spcAft>
              <a:buSzPts val="1200"/>
              <a:buChar char="●"/>
            </a:pPr>
            <a:r>
              <a:rPr lang="en"/>
              <a:t>Implement an anonymous complaint form to encourage transparent reporting and ensure issues are taken seriously.</a:t>
            </a:r>
            <a:endParaRPr/>
          </a:p>
        </p:txBody>
      </p:sp>
      <p:sp>
        <p:nvSpPr>
          <p:cNvPr id="655" name="Google Shape;655;p66"/>
          <p:cNvSpPr txBox="1"/>
          <p:nvPr/>
        </p:nvSpPr>
        <p:spPr>
          <a:xfrm>
            <a:off x="6080700" y="1292250"/>
            <a:ext cx="2199000" cy="3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Urbanist"/>
                <a:ea typeface="Urbanist"/>
                <a:cs typeface="Urbanist"/>
                <a:sym typeface="Urbanist"/>
              </a:rPr>
              <a:t>How to implement:</a:t>
            </a:r>
            <a:endParaRPr b="1">
              <a:solidFill>
                <a:schemeClr val="lt1"/>
              </a:solidFill>
              <a:latin typeface="Urbanist"/>
              <a:ea typeface="Urbanist"/>
              <a:cs typeface="Urbanist"/>
              <a:sym typeface="Urbanist"/>
            </a:endParaRPr>
          </a:p>
        </p:txBody>
      </p:sp>
      <p:sp>
        <p:nvSpPr>
          <p:cNvPr id="656" name="Google Shape;656;p66"/>
          <p:cNvSpPr txBox="1"/>
          <p:nvPr/>
        </p:nvSpPr>
        <p:spPr>
          <a:xfrm>
            <a:off x="717000" y="1275675"/>
            <a:ext cx="3855000" cy="2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Urbanist"/>
                <a:ea typeface="Urbanist"/>
                <a:cs typeface="Urbanist"/>
                <a:sym typeface="Urbanist"/>
              </a:rPr>
              <a:t>Need for more Authority:</a:t>
            </a:r>
            <a:endParaRPr b="1">
              <a:solidFill>
                <a:schemeClr val="lt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67"/>
          <p:cNvSpPr/>
          <p:nvPr/>
        </p:nvSpPr>
        <p:spPr>
          <a:xfrm>
            <a:off x="485490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62" name="Google Shape;662;p67"/>
          <p:cNvSpPr/>
          <p:nvPr/>
        </p:nvSpPr>
        <p:spPr>
          <a:xfrm>
            <a:off x="46455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63" name="Google Shape;663;p67"/>
          <p:cNvSpPr txBox="1">
            <a:spLocks noGrp="1"/>
          </p:cNvSpPr>
          <p:nvPr>
            <p:ph type="body" idx="2"/>
          </p:nvPr>
        </p:nvSpPr>
        <p:spPr>
          <a:xfrm>
            <a:off x="4720150" y="1254725"/>
            <a:ext cx="3999900" cy="400200"/>
          </a:xfrm>
          <a:prstGeom prst="rect">
            <a:avLst/>
          </a:prstGeom>
        </p:spPr>
        <p:txBody>
          <a:bodyPr spcFirstLastPara="1" wrap="square" lIns="91425" tIns="91425" rIns="91425" bIns="91425" anchor="t" anchorCtr="0">
            <a:spAutoFit/>
          </a:bodyPr>
          <a:lstStyle/>
          <a:p>
            <a:pPr marL="0" lvl="0" indent="0" algn="ctr" rtl="0">
              <a:spcBef>
                <a:spcPts val="0"/>
              </a:spcBef>
              <a:spcAft>
                <a:spcPts val="800"/>
              </a:spcAft>
              <a:buNone/>
            </a:pPr>
            <a:r>
              <a:rPr lang="en" b="1">
                <a:solidFill>
                  <a:schemeClr val="accent3"/>
                </a:solidFill>
              </a:rPr>
              <a:t>Potential Downsides</a:t>
            </a:r>
            <a:endParaRPr b="1">
              <a:solidFill>
                <a:schemeClr val="accent3"/>
              </a:solidFill>
            </a:endParaRPr>
          </a:p>
        </p:txBody>
      </p:sp>
      <p:sp>
        <p:nvSpPr>
          <p:cNvPr id="664" name="Google Shape;664;p67"/>
          <p:cNvSpPr txBox="1">
            <a:spLocks noGrp="1"/>
          </p:cNvSpPr>
          <p:nvPr>
            <p:ph type="body" idx="1"/>
          </p:nvPr>
        </p:nvSpPr>
        <p:spPr>
          <a:xfrm>
            <a:off x="375200" y="1254725"/>
            <a:ext cx="39999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3"/>
                </a:solidFill>
              </a:rPr>
              <a:t>Best Practices: management in Lebanese Healthcare</a:t>
            </a:r>
            <a:endParaRPr b="1">
              <a:solidFill>
                <a:schemeClr val="accent3"/>
              </a:solidFill>
            </a:endParaRPr>
          </a:p>
        </p:txBody>
      </p:sp>
      <p:sp>
        <p:nvSpPr>
          <p:cNvPr id="665" name="Google Shape;665;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Recommendation</a:t>
            </a:r>
            <a:endParaRPr/>
          </a:p>
        </p:txBody>
      </p:sp>
      <p:sp>
        <p:nvSpPr>
          <p:cNvPr id="666" name="Google Shape;666;p67"/>
          <p:cNvSpPr txBox="1"/>
          <p:nvPr/>
        </p:nvSpPr>
        <p:spPr>
          <a:xfrm>
            <a:off x="755000" y="1958300"/>
            <a:ext cx="3240300" cy="2862900"/>
          </a:xfrm>
          <a:prstGeom prst="rect">
            <a:avLst/>
          </a:prstGeom>
          <a:noFill/>
          <a:ln>
            <a:noFill/>
          </a:ln>
        </p:spPr>
        <p:txBody>
          <a:bodyPr spcFirstLastPara="1" wrap="square" lIns="91425" tIns="91425" rIns="91425" bIns="91425" anchor="t" anchorCtr="0">
            <a:noAutofit/>
          </a:bodyPr>
          <a:lstStyle/>
          <a:p>
            <a:pPr marL="457200" lvl="0" indent="-285750" algn="l" rtl="0">
              <a:spcBef>
                <a:spcPts val="0"/>
              </a:spcBef>
              <a:spcAft>
                <a:spcPts val="0"/>
              </a:spcAft>
              <a:buClr>
                <a:schemeClr val="lt1"/>
              </a:buClr>
              <a:buSzPts val="900"/>
              <a:buFont typeface="Urbanist"/>
              <a:buChar char="●"/>
            </a:pPr>
            <a:r>
              <a:rPr lang="en" sz="900">
                <a:solidFill>
                  <a:schemeClr val="lt1"/>
                </a:solidFill>
                <a:latin typeface="Urbanist"/>
                <a:ea typeface="Urbanist"/>
                <a:cs typeface="Urbanist"/>
                <a:sym typeface="Urbanist"/>
              </a:rPr>
              <a:t>Found that workers at healthcare centers in Lebanon improved in team efficiency and problem solving if managers observed and engaged with them more</a:t>
            </a:r>
            <a:endParaRPr sz="900">
              <a:solidFill>
                <a:schemeClr val="lt1"/>
              </a:solidFill>
              <a:latin typeface="Urbanist"/>
              <a:ea typeface="Urbanist"/>
              <a:cs typeface="Urbanist"/>
              <a:sym typeface="Urbanist"/>
            </a:endParaRPr>
          </a:p>
          <a:p>
            <a:pPr marL="457200" lvl="0" indent="-285750" algn="l" rtl="0">
              <a:spcBef>
                <a:spcPts val="0"/>
              </a:spcBef>
              <a:spcAft>
                <a:spcPts val="0"/>
              </a:spcAft>
              <a:buClr>
                <a:schemeClr val="lt1"/>
              </a:buClr>
              <a:buSzPts val="900"/>
              <a:buFont typeface="Urbanist"/>
              <a:buChar char="●"/>
            </a:pPr>
            <a:r>
              <a:rPr lang="en" sz="900">
                <a:solidFill>
                  <a:schemeClr val="lt1"/>
                </a:solidFill>
                <a:latin typeface="Urbanist"/>
                <a:ea typeface="Urbanist"/>
                <a:cs typeface="Urbanist"/>
                <a:sym typeface="Urbanist"/>
              </a:rPr>
              <a:t>More present managers are able to build better relationships with employees and identify operational issues faster</a:t>
            </a:r>
            <a:endParaRPr sz="900">
              <a:solidFill>
                <a:schemeClr val="lt1"/>
              </a:solidFill>
              <a:latin typeface="Urbanist"/>
              <a:ea typeface="Urbanist"/>
              <a:cs typeface="Urbanist"/>
              <a:sym typeface="Urbanist"/>
            </a:endParaRPr>
          </a:p>
          <a:p>
            <a:pPr marL="457200" lvl="0" indent="-285750" algn="l" rtl="0">
              <a:spcBef>
                <a:spcPts val="0"/>
              </a:spcBef>
              <a:spcAft>
                <a:spcPts val="0"/>
              </a:spcAft>
              <a:buClr>
                <a:schemeClr val="lt1"/>
              </a:buClr>
              <a:buSzPts val="900"/>
              <a:buFont typeface="Urbanist"/>
              <a:buChar char="●"/>
            </a:pPr>
            <a:r>
              <a:rPr lang="en" sz="900">
                <a:solidFill>
                  <a:schemeClr val="lt1"/>
                </a:solidFill>
                <a:latin typeface="Urbanist"/>
                <a:ea typeface="Urbanist"/>
                <a:cs typeface="Urbanist"/>
                <a:sym typeface="Urbanist"/>
              </a:rPr>
              <a:t>Would be reflected by Nick’s increased presence at the office and introduction of complaint forms</a:t>
            </a:r>
            <a:endParaRPr sz="900">
              <a:solidFill>
                <a:schemeClr val="lt1"/>
              </a:solidFill>
              <a:latin typeface="Urbanist"/>
              <a:ea typeface="Urbanist"/>
              <a:cs typeface="Urbanist"/>
              <a:sym typeface="Urbanist"/>
            </a:endParaRPr>
          </a:p>
        </p:txBody>
      </p:sp>
      <p:sp>
        <p:nvSpPr>
          <p:cNvPr id="667" name="Google Shape;667;p67"/>
          <p:cNvSpPr txBox="1"/>
          <p:nvPr/>
        </p:nvSpPr>
        <p:spPr>
          <a:xfrm>
            <a:off x="5193900" y="1958300"/>
            <a:ext cx="3240300" cy="28629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Increasing the authority of management may cause worker autonomy to decrease if taken too far (important motivational factor)</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Ex: If Nick excessively watches over employees or takes too much control, workers might end up feeling micromanaged</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Can eventually lead to another motivational problem</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Also costs additional time and resources from Nick</a:t>
            </a:r>
            <a:endParaRPr sz="1200">
              <a:solidFill>
                <a:schemeClr val="lt1"/>
              </a:solidFill>
              <a:latin typeface="Urbanist"/>
              <a:ea typeface="Urbanist"/>
              <a:cs typeface="Urbanist"/>
              <a:sym typeface="Urbanist"/>
            </a:endParaRPr>
          </a:p>
        </p:txBody>
      </p:sp>
      <p:pic>
        <p:nvPicPr>
          <p:cNvPr id="668" name="Google Shape;668;p67"/>
          <p:cNvPicPr preferRelativeResize="0"/>
          <p:nvPr/>
        </p:nvPicPr>
        <p:blipFill>
          <a:blip r:embed="rId3">
            <a:alphaModFix/>
          </a:blip>
          <a:stretch>
            <a:fillRect/>
          </a:stretch>
        </p:blipFill>
        <p:spPr>
          <a:xfrm>
            <a:off x="1574101" y="3424325"/>
            <a:ext cx="1699174" cy="1132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2"/>
        <p:cNvGrpSpPr/>
        <p:nvPr/>
      </p:nvGrpSpPr>
      <p:grpSpPr>
        <a:xfrm>
          <a:off x="0" y="0"/>
          <a:ext cx="0" cy="0"/>
          <a:chOff x="0" y="0"/>
          <a:chExt cx="0" cy="0"/>
        </a:xfrm>
      </p:grpSpPr>
      <p:sp>
        <p:nvSpPr>
          <p:cNvPr id="673" name="Google Shape;673;p68"/>
          <p:cNvSpPr/>
          <p:nvPr/>
        </p:nvSpPr>
        <p:spPr>
          <a:xfrm>
            <a:off x="320625" y="1030500"/>
            <a:ext cx="4724400" cy="36534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74" name="Google Shape;674;p68"/>
          <p:cNvSpPr/>
          <p:nvPr/>
        </p:nvSpPr>
        <p:spPr>
          <a:xfrm>
            <a:off x="5206225" y="1236575"/>
            <a:ext cx="3708900" cy="34050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75" name="Google Shape;675;p68"/>
          <p:cNvSpPr txBox="1">
            <a:spLocks noGrp="1"/>
          </p:cNvSpPr>
          <p:nvPr>
            <p:ph type="title"/>
          </p:nvPr>
        </p:nvSpPr>
        <p:spPr>
          <a:xfrm>
            <a:off x="644025" y="1030504"/>
            <a:ext cx="4077600" cy="782700"/>
          </a:xfrm>
          <a:prstGeom prst="rect">
            <a:avLst/>
          </a:prstGeom>
        </p:spPr>
        <p:txBody>
          <a:bodyPr spcFirstLastPara="1" wrap="square" lIns="0" tIns="0" rIns="91425" bIns="91425" anchor="b" anchorCtr="0">
            <a:noAutofit/>
          </a:bodyPr>
          <a:lstStyle/>
          <a:p>
            <a:pPr marL="0" lvl="0" indent="0" algn="l" rtl="0">
              <a:lnSpc>
                <a:spcPct val="85000"/>
              </a:lnSpc>
              <a:spcBef>
                <a:spcPts val="0"/>
              </a:spcBef>
              <a:spcAft>
                <a:spcPts val="0"/>
              </a:spcAft>
              <a:buNone/>
            </a:pPr>
            <a:r>
              <a:rPr lang="en">
                <a:latin typeface="Urbanist Medium"/>
                <a:ea typeface="Urbanist Medium"/>
                <a:cs typeface="Urbanist Medium"/>
                <a:sym typeface="Urbanist Medium"/>
              </a:rPr>
              <a:t>Need Incentives to Increase Employee Motivation</a:t>
            </a:r>
            <a:endParaRPr>
              <a:latin typeface="Urbanist Medium"/>
              <a:ea typeface="Urbanist Medium"/>
              <a:cs typeface="Urbanist Medium"/>
              <a:sym typeface="Urbanist Medium"/>
            </a:endParaRPr>
          </a:p>
        </p:txBody>
      </p:sp>
      <p:sp>
        <p:nvSpPr>
          <p:cNvPr id="676" name="Google Shape;676;p68"/>
          <p:cNvSpPr txBox="1">
            <a:spLocks noGrp="1"/>
          </p:cNvSpPr>
          <p:nvPr>
            <p:ph type="subTitle" idx="2"/>
          </p:nvPr>
        </p:nvSpPr>
        <p:spPr>
          <a:xfrm>
            <a:off x="347475" y="1821300"/>
            <a:ext cx="4670700" cy="1500900"/>
          </a:xfrm>
          <a:prstGeom prst="rect">
            <a:avLst/>
          </a:prstGeom>
        </p:spPr>
        <p:txBody>
          <a:bodyPr spcFirstLastPara="1" wrap="square" lIns="0" tIns="0" rIns="91425" bIns="91425" anchor="t" anchorCtr="0">
            <a:noAutofit/>
          </a:bodyPr>
          <a:lstStyle/>
          <a:p>
            <a:pPr marL="457200" lvl="0" indent="-342900" algn="l" rtl="0">
              <a:lnSpc>
                <a:spcPct val="115000"/>
              </a:lnSpc>
              <a:spcBef>
                <a:spcPts val="0"/>
              </a:spcBef>
              <a:spcAft>
                <a:spcPts val="0"/>
              </a:spcAft>
              <a:buClr>
                <a:schemeClr val="lt1"/>
              </a:buClr>
              <a:buSzPts val="1800"/>
              <a:buChar char="●"/>
            </a:pPr>
            <a:r>
              <a:rPr lang="en" sz="1200" b="1">
                <a:solidFill>
                  <a:schemeClr val="lt1"/>
                </a:solidFill>
              </a:rPr>
              <a:t>During one-on-one discussions, a line staff member, Zach, expressed feeling overworked, stating, “I have to continuously pick up for other people's slack” (personal communication, October 20, 2025).</a:t>
            </a:r>
            <a:endParaRPr sz="1200" b="1">
              <a:solidFill>
                <a:schemeClr val="lt1"/>
              </a:solidFill>
            </a:endParaRPr>
          </a:p>
          <a:p>
            <a:pPr marL="457200" lvl="0" indent="0" algn="l" rtl="0">
              <a:lnSpc>
                <a:spcPct val="115000"/>
              </a:lnSpc>
              <a:spcBef>
                <a:spcPts val="0"/>
              </a:spcBef>
              <a:spcAft>
                <a:spcPts val="0"/>
              </a:spcAft>
              <a:buNone/>
            </a:pPr>
            <a:endParaRPr sz="1200" b="1">
              <a:solidFill>
                <a:schemeClr val="lt1"/>
              </a:solidFill>
            </a:endParaRPr>
          </a:p>
          <a:p>
            <a:pPr marL="457200" lvl="0" indent="-342900" algn="l" rtl="0">
              <a:lnSpc>
                <a:spcPct val="115000"/>
              </a:lnSpc>
              <a:spcBef>
                <a:spcPts val="0"/>
              </a:spcBef>
              <a:spcAft>
                <a:spcPts val="0"/>
              </a:spcAft>
              <a:buClr>
                <a:schemeClr val="lt1"/>
              </a:buClr>
              <a:buSzPts val="1800"/>
              <a:buChar char="●"/>
            </a:pPr>
            <a:r>
              <a:rPr lang="en" sz="1200" b="1">
                <a:solidFill>
                  <a:schemeClr val="lt1"/>
                </a:solidFill>
              </a:rPr>
              <a:t>The core issue appeared to be low motivation among team members who relied on Zach’s consistent effort instead of contributing equally.</a:t>
            </a:r>
            <a:endParaRPr sz="1200" b="1">
              <a:solidFill>
                <a:schemeClr val="lt1"/>
              </a:solidFill>
            </a:endParaRPr>
          </a:p>
          <a:p>
            <a:pPr marL="457200" lvl="0" indent="0" algn="l" rtl="0">
              <a:lnSpc>
                <a:spcPct val="115000"/>
              </a:lnSpc>
              <a:spcBef>
                <a:spcPts val="0"/>
              </a:spcBef>
              <a:spcAft>
                <a:spcPts val="0"/>
              </a:spcAft>
              <a:buNone/>
            </a:pPr>
            <a:endParaRPr sz="1200" b="1">
              <a:solidFill>
                <a:schemeClr val="lt1"/>
              </a:solidFill>
            </a:endParaRPr>
          </a:p>
          <a:p>
            <a:pPr marL="457200" lvl="0" indent="-342900" algn="l" rtl="0">
              <a:lnSpc>
                <a:spcPct val="115000"/>
              </a:lnSpc>
              <a:spcBef>
                <a:spcPts val="0"/>
              </a:spcBef>
              <a:spcAft>
                <a:spcPts val="0"/>
              </a:spcAft>
              <a:buClr>
                <a:schemeClr val="lt1"/>
              </a:buClr>
              <a:buSzPts val="1800"/>
              <a:buChar char="●"/>
            </a:pPr>
            <a:r>
              <a:rPr lang="en" sz="1200" b="1">
                <a:solidFill>
                  <a:schemeClr val="lt1"/>
                </a:solidFill>
              </a:rPr>
              <a:t>To address this imbalance, we recommended introducing performance-based incentives, including bonuses and an Employee of the Month program.</a:t>
            </a:r>
            <a:endParaRPr sz="1200" b="1">
              <a:solidFill>
                <a:schemeClr val="lt1"/>
              </a:solidFill>
            </a:endParaRPr>
          </a:p>
          <a:p>
            <a:pPr marL="0" lvl="0" indent="0" algn="l" rtl="0">
              <a:spcBef>
                <a:spcPts val="0"/>
              </a:spcBef>
              <a:spcAft>
                <a:spcPts val="0"/>
              </a:spcAft>
              <a:buNone/>
            </a:pPr>
            <a:endParaRPr>
              <a:solidFill>
                <a:schemeClr val="lt1"/>
              </a:solidFill>
            </a:endParaRPr>
          </a:p>
        </p:txBody>
      </p:sp>
      <p:sp>
        <p:nvSpPr>
          <p:cNvPr id="677" name="Google Shape;677;p68"/>
          <p:cNvSpPr txBox="1">
            <a:spLocks noGrp="1"/>
          </p:cNvSpPr>
          <p:nvPr>
            <p:ph type="title" idx="3"/>
          </p:nvPr>
        </p:nvSpPr>
        <p:spPr>
          <a:xfrm>
            <a:off x="5773700" y="1390603"/>
            <a:ext cx="2787600" cy="386700"/>
          </a:xfrm>
          <a:prstGeom prst="rect">
            <a:avLst/>
          </a:prstGeom>
        </p:spPr>
        <p:txBody>
          <a:bodyPr spcFirstLastPara="1" wrap="square" lIns="0" tIns="0" rIns="91425" bIns="91425" anchor="b" anchorCtr="0">
            <a:noAutofit/>
          </a:bodyPr>
          <a:lstStyle/>
          <a:p>
            <a:pPr marL="0" lvl="0" indent="0" algn="l" rtl="0">
              <a:lnSpc>
                <a:spcPct val="85000"/>
              </a:lnSpc>
              <a:spcBef>
                <a:spcPts val="0"/>
              </a:spcBef>
              <a:spcAft>
                <a:spcPts val="0"/>
              </a:spcAft>
              <a:buNone/>
            </a:pPr>
            <a:r>
              <a:rPr lang="en">
                <a:latin typeface="Urbanist Medium"/>
                <a:ea typeface="Urbanist Medium"/>
                <a:cs typeface="Urbanist Medium"/>
                <a:sym typeface="Urbanist Medium"/>
              </a:rPr>
              <a:t>How to Implement </a:t>
            </a:r>
            <a:endParaRPr>
              <a:latin typeface="Urbanist Medium"/>
              <a:ea typeface="Urbanist Medium"/>
              <a:cs typeface="Urbanist Medium"/>
              <a:sym typeface="Urbanist Medium"/>
            </a:endParaRPr>
          </a:p>
        </p:txBody>
      </p:sp>
      <p:sp>
        <p:nvSpPr>
          <p:cNvPr id="678" name="Google Shape;678;p68"/>
          <p:cNvSpPr txBox="1">
            <a:spLocks noGrp="1"/>
          </p:cNvSpPr>
          <p:nvPr>
            <p:ph type="subTitle" idx="5"/>
          </p:nvPr>
        </p:nvSpPr>
        <p:spPr>
          <a:xfrm>
            <a:off x="5573600" y="1814600"/>
            <a:ext cx="3187800" cy="2056500"/>
          </a:xfrm>
          <a:prstGeom prst="rect">
            <a:avLst/>
          </a:prstGeom>
        </p:spPr>
        <p:txBody>
          <a:bodyPr spcFirstLastPara="1" wrap="square" lIns="0" tIns="0" rIns="91425" bIns="91425" anchor="t" anchorCtr="0">
            <a:noAutofit/>
          </a:bodyPr>
          <a:lstStyle/>
          <a:p>
            <a:pPr marL="457200" lvl="0" indent="-342900" algn="l" rtl="0">
              <a:lnSpc>
                <a:spcPct val="115000"/>
              </a:lnSpc>
              <a:spcBef>
                <a:spcPts val="0"/>
              </a:spcBef>
              <a:spcAft>
                <a:spcPts val="0"/>
              </a:spcAft>
              <a:buClr>
                <a:schemeClr val="lt1"/>
              </a:buClr>
              <a:buSzPts val="1800"/>
              <a:buChar char="●"/>
            </a:pPr>
            <a:r>
              <a:rPr lang="en" sz="1200" b="1">
                <a:solidFill>
                  <a:schemeClr val="lt1"/>
                </a:solidFill>
                <a:latin typeface="Urbanist"/>
                <a:ea typeface="Urbanist"/>
                <a:cs typeface="Urbanist"/>
                <a:sym typeface="Urbanist"/>
              </a:rPr>
              <a:t>Offer monthly performance bonuses tied to clear, measurable goals.</a:t>
            </a:r>
            <a:endParaRPr sz="1200" b="1">
              <a:solidFill>
                <a:schemeClr val="lt1"/>
              </a:solidFill>
              <a:latin typeface="Urbanist"/>
              <a:ea typeface="Urbanist"/>
              <a:cs typeface="Urbanist"/>
              <a:sym typeface="Urbanist"/>
            </a:endParaRPr>
          </a:p>
          <a:p>
            <a:pPr marL="457200" lvl="0" indent="0" algn="l" rtl="0">
              <a:lnSpc>
                <a:spcPct val="115000"/>
              </a:lnSpc>
              <a:spcBef>
                <a:spcPts val="0"/>
              </a:spcBef>
              <a:spcAft>
                <a:spcPts val="0"/>
              </a:spcAft>
              <a:buNone/>
            </a:pPr>
            <a:endParaRPr sz="1200" b="1">
              <a:solidFill>
                <a:schemeClr val="lt1"/>
              </a:solidFill>
              <a:latin typeface="Urbanist"/>
              <a:ea typeface="Urbanist"/>
              <a:cs typeface="Urbanist"/>
              <a:sym typeface="Urbanist"/>
            </a:endParaRPr>
          </a:p>
          <a:p>
            <a:pPr marL="457200" lvl="0" indent="-342900" algn="l" rtl="0">
              <a:lnSpc>
                <a:spcPct val="115000"/>
              </a:lnSpc>
              <a:spcBef>
                <a:spcPts val="0"/>
              </a:spcBef>
              <a:spcAft>
                <a:spcPts val="0"/>
              </a:spcAft>
              <a:buClr>
                <a:schemeClr val="lt1"/>
              </a:buClr>
              <a:buSzPts val="1800"/>
              <a:buChar char="●"/>
            </a:pPr>
            <a:r>
              <a:rPr lang="en" sz="1200" b="1">
                <a:solidFill>
                  <a:schemeClr val="lt1"/>
                </a:solidFill>
                <a:latin typeface="Urbanist"/>
                <a:ea typeface="Urbanist"/>
                <a:cs typeface="Urbanist"/>
                <a:sym typeface="Urbanist"/>
              </a:rPr>
              <a:t>Create an Employee of the Month recognition system to publicly acknowledge consistent strong performance.</a:t>
            </a:r>
            <a:endParaRPr sz="1200" b="1">
              <a:solidFill>
                <a:schemeClr val="lt1"/>
              </a:solidFill>
              <a:latin typeface="Urbanist"/>
              <a:ea typeface="Urbanist"/>
              <a:cs typeface="Urbanist"/>
              <a:sym typeface="Urbanist"/>
            </a:endParaRPr>
          </a:p>
          <a:p>
            <a:pPr marL="457200" lvl="0" indent="0" algn="l" rtl="0">
              <a:lnSpc>
                <a:spcPct val="115000"/>
              </a:lnSpc>
              <a:spcBef>
                <a:spcPts val="0"/>
              </a:spcBef>
              <a:spcAft>
                <a:spcPts val="0"/>
              </a:spcAft>
              <a:buNone/>
            </a:pPr>
            <a:endParaRPr sz="1200" b="1">
              <a:solidFill>
                <a:schemeClr val="lt1"/>
              </a:solidFill>
              <a:latin typeface="Urbanist"/>
              <a:ea typeface="Urbanist"/>
              <a:cs typeface="Urbanist"/>
              <a:sym typeface="Urbanist"/>
            </a:endParaRPr>
          </a:p>
          <a:p>
            <a:pPr marL="457200" lvl="0" indent="-342900" algn="l" rtl="0">
              <a:lnSpc>
                <a:spcPct val="115000"/>
              </a:lnSpc>
              <a:spcBef>
                <a:spcPts val="0"/>
              </a:spcBef>
              <a:spcAft>
                <a:spcPts val="0"/>
              </a:spcAft>
              <a:buClr>
                <a:schemeClr val="lt1"/>
              </a:buClr>
              <a:buSzPts val="1800"/>
              <a:buChar char="●"/>
            </a:pPr>
            <a:r>
              <a:rPr lang="en" sz="1200" b="1">
                <a:solidFill>
                  <a:schemeClr val="lt1"/>
                </a:solidFill>
                <a:latin typeface="Urbanist"/>
                <a:ea typeface="Urbanist"/>
                <a:cs typeface="Urbanist"/>
                <a:sym typeface="Urbanist"/>
              </a:rPr>
              <a:t>Ensure rewards are distributed transparently and fairly to maintain trust among employees.</a:t>
            </a:r>
            <a:endParaRPr sz="1200" b="1">
              <a:solidFill>
                <a:schemeClr val="lt1"/>
              </a:solidFill>
              <a:latin typeface="Urbanist"/>
              <a:ea typeface="Urbanist"/>
              <a:cs typeface="Urbanist"/>
              <a:sym typeface="Urbanist"/>
            </a:endParaRPr>
          </a:p>
          <a:p>
            <a:pPr marL="0" lvl="0" indent="0" algn="l" rtl="0">
              <a:spcBef>
                <a:spcPts val="0"/>
              </a:spcBef>
              <a:spcAft>
                <a:spcPts val="0"/>
              </a:spcAft>
              <a:buNone/>
            </a:pPr>
            <a:endParaRPr>
              <a:solidFill>
                <a:schemeClr val="lt1"/>
              </a:solidFill>
              <a:latin typeface="Urbanist"/>
              <a:ea typeface="Urbanist"/>
              <a:cs typeface="Urbanist"/>
              <a:sym typeface="Urbanist"/>
            </a:endParaRPr>
          </a:p>
        </p:txBody>
      </p:sp>
      <p:sp>
        <p:nvSpPr>
          <p:cNvPr id="679" name="Google Shape;679;p68"/>
          <p:cNvSpPr txBox="1">
            <a:spLocks noGrp="1"/>
          </p:cNvSpPr>
          <p:nvPr>
            <p:ph type="title" idx="6"/>
          </p:nvPr>
        </p:nvSpPr>
        <p:spPr>
          <a:xfrm>
            <a:off x="1306200" y="265300"/>
            <a:ext cx="6531600" cy="927300"/>
          </a:xfrm>
          <a:prstGeom prst="rect">
            <a:avLst/>
          </a:prstGeom>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 sz="3000">
                <a:solidFill>
                  <a:schemeClr val="lt1"/>
                </a:solidFill>
                <a:latin typeface="Urbanist Medium"/>
                <a:ea typeface="Urbanist Medium"/>
                <a:cs typeface="Urbanist Medium"/>
                <a:sym typeface="Urbanist Medium"/>
              </a:rPr>
              <a:t>Second Recommendation </a:t>
            </a:r>
            <a:endParaRPr sz="3000">
              <a:solidFill>
                <a:schemeClr val="lt1"/>
              </a:solidFill>
              <a:latin typeface="Urbanist Medium"/>
              <a:ea typeface="Urbanist Medium"/>
              <a:cs typeface="Urbanist Medium"/>
              <a:sym typeface="Urbanist Medium"/>
            </a:endParaRPr>
          </a:p>
          <a:p>
            <a:pPr marL="0" lvl="0" indent="0" algn="l" rtl="0">
              <a:spcBef>
                <a:spcPts val="0"/>
              </a:spcBef>
              <a:spcAft>
                <a:spcPts val="0"/>
              </a:spcAft>
              <a:buNone/>
            </a:pPr>
            <a:endParaRPr>
              <a:latin typeface="Urbanist Medium"/>
              <a:ea typeface="Urbanist Medium"/>
              <a:cs typeface="Urbanist Medium"/>
              <a:sym typeface="Urbanis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69"/>
          <p:cNvSpPr/>
          <p:nvPr/>
        </p:nvSpPr>
        <p:spPr>
          <a:xfrm>
            <a:off x="485490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85" name="Google Shape;685;p69"/>
          <p:cNvSpPr/>
          <p:nvPr/>
        </p:nvSpPr>
        <p:spPr>
          <a:xfrm>
            <a:off x="46455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86" name="Google Shape;686;p69"/>
          <p:cNvSpPr txBox="1">
            <a:spLocks noGrp="1"/>
          </p:cNvSpPr>
          <p:nvPr>
            <p:ph type="body" idx="2"/>
          </p:nvPr>
        </p:nvSpPr>
        <p:spPr>
          <a:xfrm>
            <a:off x="4720150" y="1254725"/>
            <a:ext cx="3999900" cy="400200"/>
          </a:xfrm>
          <a:prstGeom prst="rect">
            <a:avLst/>
          </a:prstGeom>
        </p:spPr>
        <p:txBody>
          <a:bodyPr spcFirstLastPara="1" wrap="square" lIns="91425" tIns="91425" rIns="91425" bIns="91425" anchor="t" anchorCtr="0">
            <a:spAutoFit/>
          </a:bodyPr>
          <a:lstStyle/>
          <a:p>
            <a:pPr marL="0" lvl="0" indent="0" algn="ctr" rtl="0">
              <a:spcBef>
                <a:spcPts val="0"/>
              </a:spcBef>
              <a:spcAft>
                <a:spcPts val="800"/>
              </a:spcAft>
              <a:buNone/>
            </a:pPr>
            <a:r>
              <a:rPr lang="en" b="1">
                <a:solidFill>
                  <a:schemeClr val="accent3"/>
                </a:solidFill>
              </a:rPr>
              <a:t>Potential Downsides</a:t>
            </a:r>
            <a:endParaRPr b="1">
              <a:solidFill>
                <a:schemeClr val="accent3"/>
              </a:solidFill>
            </a:endParaRPr>
          </a:p>
        </p:txBody>
      </p:sp>
      <p:sp>
        <p:nvSpPr>
          <p:cNvPr id="687" name="Google Shape;687;p69"/>
          <p:cNvSpPr txBox="1">
            <a:spLocks noGrp="1"/>
          </p:cNvSpPr>
          <p:nvPr>
            <p:ph type="body" idx="1"/>
          </p:nvPr>
        </p:nvSpPr>
        <p:spPr>
          <a:xfrm>
            <a:off x="375200" y="1254725"/>
            <a:ext cx="39999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3"/>
                </a:solidFill>
              </a:rPr>
              <a:t>Best Practices: Walmart</a:t>
            </a:r>
            <a:endParaRPr b="1">
              <a:solidFill>
                <a:schemeClr val="accent3"/>
              </a:solidFill>
            </a:endParaRPr>
          </a:p>
        </p:txBody>
      </p:sp>
      <p:sp>
        <p:nvSpPr>
          <p:cNvPr id="688" name="Google Shape;688;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Second Recommendation</a:t>
            </a:r>
            <a:endParaRPr/>
          </a:p>
        </p:txBody>
      </p:sp>
      <p:sp>
        <p:nvSpPr>
          <p:cNvPr id="689" name="Google Shape;689;p69"/>
          <p:cNvSpPr txBox="1"/>
          <p:nvPr/>
        </p:nvSpPr>
        <p:spPr>
          <a:xfrm>
            <a:off x="755000" y="1475725"/>
            <a:ext cx="3240300" cy="2862900"/>
          </a:xfrm>
          <a:prstGeom prst="rect">
            <a:avLst/>
          </a:prstGeom>
          <a:noFill/>
          <a:ln>
            <a:noFill/>
          </a:ln>
        </p:spPr>
        <p:txBody>
          <a:bodyPr spcFirstLastPara="1" wrap="square" lIns="91425" tIns="91425" rIns="91425" bIns="91425" anchor="t" anchorCtr="0">
            <a:noAutofit/>
          </a:bodyPr>
          <a:lstStyle/>
          <a:p>
            <a:pPr marL="457200" lvl="0" indent="-292100" algn="l" rtl="0">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Performance-based bonus program rewarded employees with incentives with good work and specific goals being met</a:t>
            </a:r>
            <a:endParaRPr sz="1000">
              <a:solidFill>
                <a:schemeClr val="lt1"/>
              </a:solidFill>
              <a:latin typeface="Urbanist"/>
              <a:ea typeface="Urbanist"/>
              <a:cs typeface="Urbanist"/>
              <a:sym typeface="Urbanist"/>
            </a:endParaRPr>
          </a:p>
          <a:p>
            <a:pPr marL="457200" lvl="0" indent="-292100" algn="l" rtl="0">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Bonuses were shown to increase motivation and decrease slack at the company</a:t>
            </a:r>
            <a:endParaRPr sz="1000">
              <a:solidFill>
                <a:schemeClr val="lt1"/>
              </a:solidFill>
              <a:latin typeface="Urbanist"/>
              <a:ea typeface="Urbanist"/>
              <a:cs typeface="Urbanist"/>
              <a:sym typeface="Urbanist"/>
            </a:endParaRPr>
          </a:p>
          <a:p>
            <a:pPr marL="914400" lvl="1" indent="-292100" algn="l" rtl="0">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Tied rewards with performance outcomes</a:t>
            </a:r>
            <a:endParaRPr sz="1000">
              <a:solidFill>
                <a:schemeClr val="lt1"/>
              </a:solidFill>
              <a:latin typeface="Urbanist"/>
              <a:ea typeface="Urbanist"/>
              <a:cs typeface="Urbanist"/>
              <a:sym typeface="Urbanist"/>
            </a:endParaRPr>
          </a:p>
          <a:p>
            <a:pPr marL="457200" lvl="0" indent="-292100" algn="l" rtl="0">
              <a:spcBef>
                <a:spcPts val="0"/>
              </a:spcBef>
              <a:spcAft>
                <a:spcPts val="0"/>
              </a:spcAft>
              <a:buClr>
                <a:schemeClr val="lt1"/>
              </a:buClr>
              <a:buSzPts val="1000"/>
              <a:buFont typeface="Urbanist"/>
              <a:buChar char="●"/>
            </a:pPr>
            <a:r>
              <a:rPr lang="en" sz="1000">
                <a:solidFill>
                  <a:schemeClr val="lt1"/>
                </a:solidFill>
                <a:latin typeface="Urbanist"/>
                <a:ea typeface="Urbanist"/>
                <a:cs typeface="Urbanist"/>
                <a:sym typeface="Urbanist"/>
              </a:rPr>
              <a:t>Providing similar incentives to employees at NMBC will offer similar increases in worker motivation</a:t>
            </a:r>
            <a:endParaRPr sz="1000">
              <a:solidFill>
                <a:schemeClr val="lt1"/>
              </a:solidFill>
              <a:latin typeface="Urbanist"/>
              <a:ea typeface="Urbanist"/>
              <a:cs typeface="Urbanist"/>
              <a:sym typeface="Urbanist"/>
            </a:endParaRPr>
          </a:p>
        </p:txBody>
      </p:sp>
      <p:sp>
        <p:nvSpPr>
          <p:cNvPr id="690" name="Google Shape;690;p69"/>
          <p:cNvSpPr txBox="1"/>
          <p:nvPr/>
        </p:nvSpPr>
        <p:spPr>
          <a:xfrm>
            <a:off x="5193900" y="1698425"/>
            <a:ext cx="3240300" cy="28629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Providing extrinsic bonuses to employees could increase unhealthy competition and rivalry</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People are naturally ambitious and have a desire for upward mobility</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Additional rewards will foster an ambitious attitude and promote competition</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Although competition can be healthy, it can also lead to decreased team cooperation if taken too far</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Additional monetary cost for extra bonuses and potential cost towards cooperation progress  in the workplace </a:t>
            </a:r>
            <a:endParaRPr sz="1200">
              <a:solidFill>
                <a:schemeClr val="lt1"/>
              </a:solidFill>
              <a:latin typeface="Urbanist"/>
              <a:ea typeface="Urbanist"/>
              <a:cs typeface="Urbanist"/>
              <a:sym typeface="Urbanist"/>
            </a:endParaRPr>
          </a:p>
        </p:txBody>
      </p:sp>
      <p:pic>
        <p:nvPicPr>
          <p:cNvPr id="691" name="Google Shape;691;p69"/>
          <p:cNvPicPr preferRelativeResize="0"/>
          <p:nvPr/>
        </p:nvPicPr>
        <p:blipFill>
          <a:blip r:embed="rId3">
            <a:alphaModFix/>
          </a:blip>
          <a:stretch>
            <a:fillRect/>
          </a:stretch>
        </p:blipFill>
        <p:spPr>
          <a:xfrm>
            <a:off x="1215275" y="3146375"/>
            <a:ext cx="2319735" cy="1537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70"/>
          <p:cNvSpPr/>
          <p:nvPr/>
        </p:nvSpPr>
        <p:spPr>
          <a:xfrm>
            <a:off x="485490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97" name="Google Shape;697;p70"/>
          <p:cNvSpPr/>
          <p:nvPr/>
        </p:nvSpPr>
        <p:spPr>
          <a:xfrm>
            <a:off x="464550" y="1254725"/>
            <a:ext cx="3918300" cy="3429300"/>
          </a:xfrm>
          <a:prstGeom prst="roundRect">
            <a:avLst>
              <a:gd name="adj" fmla="val 876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98" name="Google Shape;698;p70"/>
          <p:cNvSpPr txBox="1">
            <a:spLocks noGrp="1"/>
          </p:cNvSpPr>
          <p:nvPr>
            <p:ph type="body" idx="2"/>
          </p:nvPr>
        </p:nvSpPr>
        <p:spPr>
          <a:xfrm>
            <a:off x="4720150" y="1254725"/>
            <a:ext cx="3999900" cy="400200"/>
          </a:xfrm>
          <a:prstGeom prst="rect">
            <a:avLst/>
          </a:prstGeom>
        </p:spPr>
        <p:txBody>
          <a:bodyPr spcFirstLastPara="1" wrap="square" lIns="91425" tIns="91425" rIns="91425" bIns="91425" anchor="t" anchorCtr="0">
            <a:spAutoFit/>
          </a:bodyPr>
          <a:lstStyle/>
          <a:p>
            <a:pPr marL="0" lvl="0" indent="0" algn="ctr" rtl="0">
              <a:spcBef>
                <a:spcPts val="0"/>
              </a:spcBef>
              <a:spcAft>
                <a:spcPts val="800"/>
              </a:spcAft>
              <a:buNone/>
            </a:pPr>
            <a:r>
              <a:rPr lang="en" b="1">
                <a:solidFill>
                  <a:schemeClr val="accent3"/>
                </a:solidFill>
              </a:rPr>
              <a:t>2: Providing our evidence</a:t>
            </a:r>
            <a:endParaRPr b="1">
              <a:solidFill>
                <a:schemeClr val="accent3"/>
              </a:solidFill>
            </a:endParaRPr>
          </a:p>
        </p:txBody>
      </p:sp>
      <p:sp>
        <p:nvSpPr>
          <p:cNvPr id="699" name="Google Shape;699;p70"/>
          <p:cNvSpPr txBox="1">
            <a:spLocks noGrp="1"/>
          </p:cNvSpPr>
          <p:nvPr>
            <p:ph type="body" idx="1"/>
          </p:nvPr>
        </p:nvSpPr>
        <p:spPr>
          <a:xfrm>
            <a:off x="375200" y="1254725"/>
            <a:ext cx="39999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3"/>
                </a:solidFill>
              </a:rPr>
              <a:t>1: Establishing credibility</a:t>
            </a:r>
            <a:endParaRPr b="1">
              <a:solidFill>
                <a:schemeClr val="accent3"/>
              </a:solidFill>
            </a:endParaRPr>
          </a:p>
        </p:txBody>
      </p:sp>
      <p:sp>
        <p:nvSpPr>
          <p:cNvPr id="700" name="Google Shape;700;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Communication strategies/influencing tactics</a:t>
            </a:r>
            <a:endParaRPr/>
          </a:p>
        </p:txBody>
      </p:sp>
      <p:sp>
        <p:nvSpPr>
          <p:cNvPr id="701" name="Google Shape;701;p70"/>
          <p:cNvSpPr txBox="1"/>
          <p:nvPr/>
        </p:nvSpPr>
        <p:spPr>
          <a:xfrm>
            <a:off x="755000" y="1958300"/>
            <a:ext cx="3240300" cy="28629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Need to establish our expertise and build trust with the company in order to gain their support</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To build expertise:</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Taking extra preparation steps before meetings/understanding our own research clearly</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To build trust:</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Hosting more meetings in-person, listening to the feedback and perspectives of their leadership</a:t>
            </a:r>
            <a:endParaRPr sz="1200">
              <a:solidFill>
                <a:schemeClr val="lt1"/>
              </a:solidFill>
              <a:latin typeface="Urbanist"/>
              <a:ea typeface="Urbanist"/>
              <a:cs typeface="Urbanist"/>
              <a:sym typeface="Urbanist"/>
            </a:endParaRPr>
          </a:p>
        </p:txBody>
      </p:sp>
      <p:sp>
        <p:nvSpPr>
          <p:cNvPr id="702" name="Google Shape;702;p70"/>
          <p:cNvSpPr txBox="1"/>
          <p:nvPr/>
        </p:nvSpPr>
        <p:spPr>
          <a:xfrm>
            <a:off x="5193900" y="1958300"/>
            <a:ext cx="3240300" cy="28629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Goal is to be as transparent with the company as possible to strengthen our argument</a:t>
            </a:r>
            <a:endParaRPr sz="1200">
              <a:solidFill>
                <a:schemeClr val="lt1"/>
              </a:solidFill>
              <a:latin typeface="Urbanist"/>
              <a:ea typeface="Urbanist"/>
              <a:cs typeface="Urbanist"/>
              <a:sym typeface="Urbanist"/>
            </a:endParaRPr>
          </a:p>
          <a:p>
            <a:pPr marL="457200" lvl="0"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Three methods will be used</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Use graphics during meetings that visually display important information</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Cite/explain where we derived all of our secondary sources/research</a:t>
            </a:r>
            <a:endParaRPr sz="1200">
              <a:solidFill>
                <a:schemeClr val="lt1"/>
              </a:solidFill>
              <a:latin typeface="Urbanist"/>
              <a:ea typeface="Urbanist"/>
              <a:cs typeface="Urbanist"/>
              <a:sym typeface="Urbanist"/>
            </a:endParaRPr>
          </a:p>
          <a:p>
            <a:pPr marL="914400" lvl="1" indent="-304800" algn="l" rtl="0">
              <a:spcBef>
                <a:spcPts val="0"/>
              </a:spcBef>
              <a:spcAft>
                <a:spcPts val="0"/>
              </a:spcAft>
              <a:buClr>
                <a:schemeClr val="lt1"/>
              </a:buClr>
              <a:buSzPts val="1200"/>
              <a:buFont typeface="Urbanist"/>
              <a:buChar char="○"/>
            </a:pPr>
            <a:r>
              <a:rPr lang="en" sz="1200">
                <a:solidFill>
                  <a:schemeClr val="lt1"/>
                </a:solidFill>
                <a:latin typeface="Urbanist"/>
                <a:ea typeface="Urbanist"/>
                <a:cs typeface="Urbanist"/>
                <a:sym typeface="Urbanist"/>
              </a:rPr>
              <a:t>Take extra time to explain important concepts and clear up any questions/confusion</a:t>
            </a:r>
            <a:endParaRPr sz="1200">
              <a:solidFill>
                <a:schemeClr val="lt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71"/>
          <p:cNvSpPr txBox="1">
            <a:spLocks noGrp="1"/>
          </p:cNvSpPr>
          <p:nvPr>
            <p:ph type="title"/>
          </p:nvPr>
        </p:nvSpPr>
        <p:spPr>
          <a:xfrm>
            <a:off x="1195650" y="2013950"/>
            <a:ext cx="6658800" cy="9999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7200"/>
              <a:t>Thank You</a:t>
            </a:r>
            <a:endParaRPr sz="72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1662</Words>
  <Application>Microsoft Office PowerPoint</Application>
  <PresentationFormat>On-screen Show (16:9)</PresentationFormat>
  <Paragraphs>195</Paragraphs>
  <Slides>19</Slides>
  <Notes>19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Urbanist Medium</vt:lpstr>
      <vt:lpstr>Urbanist</vt:lpstr>
      <vt:lpstr>Arial</vt:lpstr>
      <vt:lpstr>Urbanist SemiBold</vt:lpstr>
      <vt:lpstr>Simple Light</vt:lpstr>
      <vt:lpstr>Dark Particles</vt:lpstr>
      <vt:lpstr>Partnership Proposal Presentation</vt:lpstr>
      <vt:lpstr>NMBC Moving Solutions</vt:lpstr>
      <vt:lpstr>Background Information &amp; Secondary Data </vt:lpstr>
      <vt:lpstr>Data Collection Methods</vt:lpstr>
      <vt:lpstr>Timeline</vt:lpstr>
      <vt:lpstr>Output Problem</vt:lpstr>
      <vt:lpstr>Output Problem #1 - Expectancy Theory </vt:lpstr>
      <vt:lpstr>Connection to NMBC</vt:lpstr>
      <vt:lpstr>Connection to NMBC </vt:lpstr>
      <vt:lpstr>Output Problem #2 - Team Effectiveness Model</vt:lpstr>
      <vt:lpstr>Connection to NMBC</vt:lpstr>
      <vt:lpstr>Connection to NMBC</vt:lpstr>
      <vt:lpstr>Connection to NMBC</vt:lpstr>
      <vt:lpstr>First Recommendation </vt:lpstr>
      <vt:lpstr>First Recommendation</vt:lpstr>
      <vt:lpstr>Need Incentives to Increase Employee Motivation</vt:lpstr>
      <vt:lpstr>Second Recommendation</vt:lpstr>
      <vt:lpstr>Communication strategies/influencing tactics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Fik</cp:lastModifiedBy>
  <cp:revision>1</cp:revision>
  <dcterms:modified xsi:type="dcterms:W3CDTF">2026-09-26T05:22:14Z</dcterms:modified>
</cp:coreProperties>
</file>